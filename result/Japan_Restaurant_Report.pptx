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838CA-F712-F020-2A2A-76541BFC57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764048-BD25-E04E-ACC7-CF89478663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D0831E-894C-910C-5F7C-9539D8DED499}"/>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5" name="Footer Placeholder 4">
            <a:extLst>
              <a:ext uri="{FF2B5EF4-FFF2-40B4-BE49-F238E27FC236}">
                <a16:creationId xmlns:a16="http://schemas.microsoft.com/office/drawing/2014/main" id="{E3C74779-7D1B-8F9C-FEF8-64405358D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92AA8-7177-6810-2182-E9BC1AF9785E}"/>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310795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0FDA8-C59D-8672-C939-CB3A1946C0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B0FEC-A086-D196-2AF6-6BAC709D4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81EA9-8854-1383-2B1A-4353E23BE3FF}"/>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5" name="Footer Placeholder 4">
            <a:extLst>
              <a:ext uri="{FF2B5EF4-FFF2-40B4-BE49-F238E27FC236}">
                <a16:creationId xmlns:a16="http://schemas.microsoft.com/office/drawing/2014/main" id="{62A69EE3-CFB4-DEE1-EA93-80D30183DE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CA0CB-DF97-1E71-E465-2DB2DC621EC0}"/>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2995303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E8C4A-3A63-D0F1-5444-11CE28B504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53E74-F9EB-5E2D-9EC2-9103459820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F21F2F-F85C-DE02-3B52-B711997AF4C1}"/>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5" name="Footer Placeholder 4">
            <a:extLst>
              <a:ext uri="{FF2B5EF4-FFF2-40B4-BE49-F238E27FC236}">
                <a16:creationId xmlns:a16="http://schemas.microsoft.com/office/drawing/2014/main" id="{D4AA2974-AD18-1D6F-7761-61FB90F77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91515-D281-9501-D12A-7D5500BD689A}"/>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898598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56DCD-C736-EB5C-7B3F-F53026F98D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B7FA2F-C6CB-F7B1-2084-6B1F7A9139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74812-40B5-ED7A-436E-4621A6BB2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7B5800-F190-BBD4-B27F-FC01174F95BD}"/>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6" name="Footer Placeholder 5">
            <a:extLst>
              <a:ext uri="{FF2B5EF4-FFF2-40B4-BE49-F238E27FC236}">
                <a16:creationId xmlns:a16="http://schemas.microsoft.com/office/drawing/2014/main" id="{6D0C8E9F-DE8F-D1DC-A49F-5A69AB88A2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6DC6D7-65EA-08FB-26CB-CBEEB07ECEB1}"/>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2528210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C87FE-8268-9B5D-1BEF-E7F7C6A694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4B82BA-D74D-D400-B768-F2318FC8B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74D0CE-C5D3-ED67-6486-B2A32B8507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E59F9F-2F63-B912-C27F-207AFB2B4F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ED1067-D7ED-5DCC-E950-EBFFF3F651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235762-E0D5-839A-CD58-6E0A7ABEA313}"/>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8" name="Footer Placeholder 7">
            <a:extLst>
              <a:ext uri="{FF2B5EF4-FFF2-40B4-BE49-F238E27FC236}">
                <a16:creationId xmlns:a16="http://schemas.microsoft.com/office/drawing/2014/main" id="{AC60A9A5-D870-DBB9-A153-480829DD8F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95E1A-D9BD-F019-6563-F38DDE3F0D76}"/>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3890987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D4BAA-0FCC-25EC-3302-51928F4105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95439C-ACF6-EB3E-DC6C-1A6943B4C98F}"/>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4" name="Footer Placeholder 3">
            <a:extLst>
              <a:ext uri="{FF2B5EF4-FFF2-40B4-BE49-F238E27FC236}">
                <a16:creationId xmlns:a16="http://schemas.microsoft.com/office/drawing/2014/main" id="{04D36610-5A69-95BC-F580-EB0712766B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B21E7D-1E9C-FDA5-3E7A-019DC3AF82E9}"/>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2810756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424497-662A-3AF6-B8A0-7BF65F524C22}"/>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3" name="Footer Placeholder 2">
            <a:extLst>
              <a:ext uri="{FF2B5EF4-FFF2-40B4-BE49-F238E27FC236}">
                <a16:creationId xmlns:a16="http://schemas.microsoft.com/office/drawing/2014/main" id="{E76BCC63-2DFC-260B-4F3D-6D466058AB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D2955C-C1F2-5218-4B63-7E17B9E34F03}"/>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4079743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40686-CFC1-ABF7-494D-8EB4FFD8F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AE1930-99EC-21F5-F965-50F5F1FA80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633472-3FD1-D33C-2C97-BEFDED1425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50000-9424-BDE3-CC03-861B45BB3F24}"/>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6" name="Footer Placeholder 5">
            <a:extLst>
              <a:ext uri="{FF2B5EF4-FFF2-40B4-BE49-F238E27FC236}">
                <a16:creationId xmlns:a16="http://schemas.microsoft.com/office/drawing/2014/main" id="{8EF32C96-D631-8761-3998-289136B98E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D61834-878A-269C-CF22-D78C246BCE90}"/>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2851532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89263-32C1-649C-E075-8F8FA6AF8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F08A56-AC25-A324-7947-C8E2FBD097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B33EE7-5062-3138-0C94-3DDD6E09F0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04749A-5068-8067-E775-80BEED0A9E9E}"/>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6" name="Footer Placeholder 5">
            <a:extLst>
              <a:ext uri="{FF2B5EF4-FFF2-40B4-BE49-F238E27FC236}">
                <a16:creationId xmlns:a16="http://schemas.microsoft.com/office/drawing/2014/main" id="{5ECC4E4D-9427-504C-7333-D81F61C05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E8438D-CA6A-9AF8-CBBA-45FB2079A8B9}"/>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3152773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83F1-9B63-F377-FAD0-78E134C04B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0B7EF-57C1-D6C3-7D7F-75A29BAFA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76B667-D7A6-CA1B-2D25-9071E5049D77}"/>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5" name="Footer Placeholder 4">
            <a:extLst>
              <a:ext uri="{FF2B5EF4-FFF2-40B4-BE49-F238E27FC236}">
                <a16:creationId xmlns:a16="http://schemas.microsoft.com/office/drawing/2014/main" id="{D2FC25B1-5EFE-0168-64C0-142B2B3083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AC3B39-7167-AC64-6D93-443600E0DC85}"/>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1485180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CDE441-AD31-4EAB-1B29-0C9C686D42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A899A5-EC81-BB66-B27B-C2F4619F64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1A6998-DE15-C19B-E762-E12436029747}"/>
              </a:ext>
            </a:extLst>
          </p:cNvPr>
          <p:cNvSpPr>
            <a:spLocks noGrp="1"/>
          </p:cNvSpPr>
          <p:nvPr>
            <p:ph type="dt" sz="half" idx="10"/>
          </p:nvPr>
        </p:nvSpPr>
        <p:spPr/>
        <p:txBody>
          <a:bodyPr/>
          <a:lstStyle/>
          <a:p>
            <a:fld id="{71E98D95-AAF6-40CB-A846-A3BF32C12498}" type="datetimeFigureOut">
              <a:rPr lang="en-US" smtClean="0"/>
              <a:t>12/10/2025</a:t>
            </a:fld>
            <a:endParaRPr lang="en-US"/>
          </a:p>
        </p:txBody>
      </p:sp>
      <p:sp>
        <p:nvSpPr>
          <p:cNvPr id="5" name="Footer Placeholder 4">
            <a:extLst>
              <a:ext uri="{FF2B5EF4-FFF2-40B4-BE49-F238E27FC236}">
                <a16:creationId xmlns:a16="http://schemas.microsoft.com/office/drawing/2014/main" id="{1738D244-3ECE-D197-E06E-45B9875D27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C85C7-F66A-2615-D513-7E63259AA8F6}"/>
              </a:ext>
            </a:extLst>
          </p:cNvPr>
          <p:cNvSpPr>
            <a:spLocks noGrp="1"/>
          </p:cNvSpPr>
          <p:nvPr>
            <p:ph type="sldNum" sz="quarter" idx="12"/>
          </p:nvPr>
        </p:nvSpPr>
        <p:spPr/>
        <p:txBody>
          <a:bodyPr/>
          <a:lstStyle/>
          <a:p>
            <a:fld id="{E1FC8879-2967-41F2-A016-39371AD8BC1D}" type="slidenum">
              <a:rPr lang="en-US" smtClean="0"/>
              <a:t>‹#›</a:t>
            </a:fld>
            <a:endParaRPr lang="en-US"/>
          </a:p>
        </p:txBody>
      </p:sp>
    </p:spTree>
    <p:extLst>
      <p:ext uri="{BB962C8B-B14F-4D97-AF65-F5344CB8AC3E}">
        <p14:creationId xmlns:p14="http://schemas.microsoft.com/office/powerpoint/2010/main" val="167859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28E9B4-9991-F796-88CB-B6F4F0D230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C6D6AC-8C9B-F0FE-1517-A3CB1E1C53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7D1B6C-EB5D-6034-A99E-341377CB62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98D95-AAF6-40CB-A846-A3BF32C12498}" type="datetimeFigureOut">
              <a:rPr lang="en-US" smtClean="0"/>
              <a:t>12/10/2025</a:t>
            </a:fld>
            <a:endParaRPr lang="en-US"/>
          </a:p>
        </p:txBody>
      </p:sp>
      <p:sp>
        <p:nvSpPr>
          <p:cNvPr id="5" name="Footer Placeholder 4">
            <a:extLst>
              <a:ext uri="{FF2B5EF4-FFF2-40B4-BE49-F238E27FC236}">
                <a16:creationId xmlns:a16="http://schemas.microsoft.com/office/drawing/2014/main" id="{793BE138-A9EA-59B1-CB4B-BFEF108AB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356BC5-CB11-49B0-0C82-A1B7252676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C8879-2967-41F2-A016-39371AD8BC1D}" type="slidenum">
              <a:rPr lang="en-US" smtClean="0"/>
              <a:t>‹#›</a:t>
            </a:fld>
            <a:endParaRPr lang="en-US"/>
          </a:p>
        </p:txBody>
      </p:sp>
    </p:spTree>
    <p:extLst>
      <p:ext uri="{BB962C8B-B14F-4D97-AF65-F5344CB8AC3E}">
        <p14:creationId xmlns:p14="http://schemas.microsoft.com/office/powerpoint/2010/main" val="1847703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05A64-DD68-5206-EAF8-9914F879C8ED}"/>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1536C262-0F9B-F433-155B-3A61F069EB62}"/>
              </a:ext>
            </a:extLst>
          </p:cNvPr>
          <p:cNvSpPr>
            <a:spLocks noGrp="1"/>
          </p:cNvSpPr>
          <p:nvPr>
            <p:ph type="subTitle" idx="1"/>
          </p:nvPr>
        </p:nvSpPr>
        <p:spPr>
          <a:xfrm>
            <a:off x="0" y="827735"/>
            <a:ext cx="12192000" cy="6030265"/>
          </a:xfrm>
        </p:spPr>
        <p:txBody>
          <a:bodyPr/>
          <a:lstStyle/>
          <a:p>
            <a:pPr algn="l"/>
            <a:r>
              <a:rPr lang="en-US" b="1" dirty="0"/>
              <a:t>1. Ask</a:t>
            </a:r>
          </a:p>
          <a:p>
            <a:pPr marL="342900" indent="-342900" algn="l">
              <a:buFontTx/>
              <a:buChar char="-"/>
            </a:pPr>
            <a:r>
              <a:rPr lang="en-US" dirty="0"/>
              <a:t>1. How is the overall business performance changing over time, and what are the key fluctuations in revenue ?</a:t>
            </a:r>
          </a:p>
          <a:p>
            <a:pPr marL="342900" indent="-342900" algn="l">
              <a:buFontTx/>
              <a:buChar char="-"/>
            </a:pPr>
            <a:r>
              <a:rPr lang="en-US" dirty="0"/>
              <a:t>2. Which products or product groups contribute the most to revenue, and which underperforming items should be considered for optimization or removal ?</a:t>
            </a:r>
          </a:p>
          <a:p>
            <a:pPr marL="342900" indent="-342900" algn="l">
              <a:buFontTx/>
              <a:buChar char="-"/>
            </a:pPr>
            <a:r>
              <a:rPr lang="en-US" dirty="0"/>
              <a:t>3. What customer behavior patterns can be observed by time (hour/day) and by group size, and how do these patterns impact the Average Order Value (AOV) ?</a:t>
            </a:r>
          </a:p>
          <a:p>
            <a:pPr marL="342900" indent="-342900" algn="l">
              <a:buFontTx/>
              <a:buChar char="-"/>
            </a:pPr>
            <a:r>
              <a:rPr lang="en-US" dirty="0"/>
              <a:t>4. How are the different sales channels (dine-in, delivery app, take-away, etc.) performing, and which channel provides the highest value to the restaurant ?</a:t>
            </a:r>
          </a:p>
          <a:p>
            <a:pPr marL="342900" indent="-342900" algn="l">
              <a:buFontTx/>
              <a:buChar char="-"/>
            </a:pPr>
            <a:r>
              <a:rPr lang="en-US" dirty="0"/>
              <a:t>5. Are the current promotional programs truly effective in increasing revenue or AOV, or are they reducing profit margins ?</a:t>
            </a:r>
          </a:p>
          <a:p>
            <a:pPr marL="342900" indent="-342900" algn="l">
              <a:buFontTx/>
              <a:buChar char="-"/>
            </a:pPr>
            <a:r>
              <a:rPr lang="en-US" dirty="0"/>
              <a:t>6. Are there opportunities to build combos or upsell recommendations based on frequently purchased item pairs (cross-selling) ?</a:t>
            </a:r>
          </a:p>
          <a:p>
            <a:pPr marL="342900" indent="-342900" algn="l">
              <a:buFontTx/>
              <a:buChar char="-"/>
            </a:pPr>
            <a:r>
              <a:rPr lang="en-US" dirty="0"/>
              <a:t>7. Based on performance and growth, how can the current menu be categorized (BCG matrix) to support decisions on which items to invest in, maintain, optimize, or eliminate ?</a:t>
            </a:r>
          </a:p>
        </p:txBody>
      </p:sp>
    </p:spTree>
    <p:extLst>
      <p:ext uri="{BB962C8B-B14F-4D97-AF65-F5344CB8AC3E}">
        <p14:creationId xmlns:p14="http://schemas.microsoft.com/office/powerpoint/2010/main" val="918930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79C0-EC60-5D55-0960-43C55D6D9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0D7E9-3248-DF32-6E94-411BB465F254}"/>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E4EA485C-8166-039A-9FC1-6DBDA08182CA}"/>
              </a:ext>
            </a:extLst>
          </p:cNvPr>
          <p:cNvSpPr>
            <a:spLocks noGrp="1"/>
          </p:cNvSpPr>
          <p:nvPr>
            <p:ph type="subTitle" idx="1"/>
          </p:nvPr>
        </p:nvSpPr>
        <p:spPr>
          <a:xfrm>
            <a:off x="0" y="921041"/>
            <a:ext cx="12192000" cy="5936959"/>
          </a:xfrm>
        </p:spPr>
        <p:txBody>
          <a:bodyPr/>
          <a:lstStyle/>
          <a:p>
            <a:pPr algn="l"/>
            <a:r>
              <a:rPr lang="en-US" b="1" dirty="0"/>
              <a:t>2. Prepare</a:t>
            </a:r>
          </a:p>
          <a:p>
            <a:pPr marL="342900" indent="-342900" algn="l">
              <a:buFontTx/>
              <a:buChar char="-"/>
            </a:pPr>
            <a:r>
              <a:rPr lang="en-US" dirty="0"/>
              <a:t>Data source: The dataset was provided as part of a </a:t>
            </a:r>
            <a:r>
              <a:rPr lang="en-US" b="1" dirty="0"/>
              <a:t>recruitment assessment</a:t>
            </a:r>
            <a:r>
              <a:rPr lang="en-US" dirty="0"/>
              <a:t> for a Data Analyst position.</a:t>
            </a:r>
          </a:p>
          <a:p>
            <a:pPr marL="342900" indent="-342900" algn="l">
              <a:buFontTx/>
              <a:buChar char="-"/>
            </a:pPr>
            <a:r>
              <a:rPr lang="en-US" dirty="0"/>
              <a:t>The dataset contains 46 columns &amp; 1665 rows.</a:t>
            </a:r>
          </a:p>
          <a:p>
            <a:pPr marL="342900" indent="-342900" algn="l">
              <a:buFontTx/>
              <a:buChar char="-"/>
            </a:pPr>
            <a:r>
              <a:rPr lang="en-US" dirty="0"/>
              <a:t>Each row corresponds to a product.</a:t>
            </a:r>
          </a:p>
          <a:p>
            <a:pPr marL="342900" indent="-342900" algn="l">
              <a:buFontTx/>
              <a:buChar char="-"/>
            </a:pPr>
            <a:r>
              <a:rPr lang="en-US" dirty="0"/>
              <a:t>The dataset includes typical columns:</a:t>
            </a:r>
          </a:p>
          <a:p>
            <a:pPr algn="l"/>
            <a:r>
              <a:rPr lang="en-US" dirty="0"/>
              <a:t>	+ Text(</a:t>
            </a:r>
            <a:r>
              <a:rPr lang="en-US" i="1" dirty="0" err="1"/>
              <a:t>Món</a:t>
            </a:r>
            <a:r>
              <a:rPr lang="en-US" i="1" dirty="0"/>
              <a:t> </a:t>
            </a:r>
            <a:r>
              <a:rPr lang="en-US" i="1" dirty="0" err="1"/>
              <a:t>mới</a:t>
            </a:r>
            <a:r>
              <a:rPr lang="en-US" i="1" dirty="0"/>
              <a:t>, </a:t>
            </a:r>
            <a:r>
              <a:rPr lang="en-US" i="1" dirty="0" err="1"/>
              <a:t>Hoá</a:t>
            </a:r>
            <a:r>
              <a:rPr lang="en-US" i="1" dirty="0"/>
              <a:t> </a:t>
            </a:r>
            <a:r>
              <a:rPr lang="en-US" i="1" dirty="0" err="1"/>
              <a:t>đơn</a:t>
            </a:r>
            <a:r>
              <a:rPr lang="en-US" dirty="0"/>
              <a:t>)</a:t>
            </a:r>
          </a:p>
          <a:p>
            <a:pPr algn="l"/>
            <a:r>
              <a:rPr lang="en-US" dirty="0"/>
              <a:t>	+ Number(</a:t>
            </a:r>
            <a:r>
              <a:rPr lang="en-US" dirty="0" err="1"/>
              <a:t>Số</a:t>
            </a:r>
            <a:r>
              <a:rPr lang="en-US" dirty="0"/>
              <a:t> </a:t>
            </a:r>
            <a:r>
              <a:rPr lang="en-US" dirty="0" err="1"/>
              <a:t>hoá</a:t>
            </a:r>
            <a:r>
              <a:rPr lang="en-US" dirty="0"/>
              <a:t> </a:t>
            </a:r>
            <a:r>
              <a:rPr lang="en-US" dirty="0" err="1"/>
              <a:t>đơn</a:t>
            </a:r>
            <a:r>
              <a:rPr lang="en-US" dirty="0"/>
              <a:t>, </a:t>
            </a:r>
            <a:r>
              <a:rPr lang="en-US" dirty="0" err="1"/>
              <a:t>Giá</a:t>
            </a:r>
            <a:r>
              <a:rPr lang="en-US" dirty="0"/>
              <a:t>, Thành </a:t>
            </a:r>
            <a:r>
              <a:rPr lang="en-US" dirty="0" err="1"/>
              <a:t>tiền</a:t>
            </a:r>
            <a:r>
              <a:rPr lang="en-US" dirty="0"/>
              <a:t>) </a:t>
            </a:r>
          </a:p>
          <a:p>
            <a:pPr algn="l"/>
            <a:r>
              <a:rPr lang="en-US" dirty="0"/>
              <a:t>	+ Datetime (</a:t>
            </a:r>
            <a:r>
              <a:rPr lang="en-US" i="1" dirty="0" err="1"/>
              <a:t>Ngày</a:t>
            </a:r>
            <a:r>
              <a:rPr lang="en-US" i="1" dirty="0"/>
              <a:t>, </a:t>
            </a:r>
            <a:r>
              <a:rPr lang="en-US" i="1" dirty="0" err="1"/>
              <a:t>Giờ</a:t>
            </a:r>
            <a:r>
              <a:rPr lang="en-US" dirty="0"/>
              <a:t>)</a:t>
            </a:r>
          </a:p>
          <a:p>
            <a:pPr algn="l"/>
            <a:endParaRPr lang="en-US" dirty="0"/>
          </a:p>
        </p:txBody>
      </p:sp>
    </p:spTree>
    <p:extLst>
      <p:ext uri="{BB962C8B-B14F-4D97-AF65-F5344CB8AC3E}">
        <p14:creationId xmlns:p14="http://schemas.microsoft.com/office/powerpoint/2010/main" val="2987787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E0F40-9909-BDD2-628C-07F7B4CD7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F41D9-BB23-79FE-C91C-D94076DF1C50}"/>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FFED89E1-E556-5BF7-E98C-39B4E54867F0}"/>
              </a:ext>
            </a:extLst>
          </p:cNvPr>
          <p:cNvSpPr>
            <a:spLocks noGrp="1"/>
          </p:cNvSpPr>
          <p:nvPr>
            <p:ph type="subTitle" idx="1"/>
          </p:nvPr>
        </p:nvSpPr>
        <p:spPr>
          <a:xfrm>
            <a:off x="0" y="921041"/>
            <a:ext cx="12192000" cy="5936959"/>
          </a:xfrm>
        </p:spPr>
        <p:txBody>
          <a:bodyPr/>
          <a:lstStyle/>
          <a:p>
            <a:pPr algn="l"/>
            <a:r>
              <a:rPr lang="en-US" b="1" dirty="0"/>
              <a:t>3. Process</a:t>
            </a:r>
          </a:p>
          <a:p>
            <a:pPr marL="342900" indent="-342900" algn="l">
              <a:buFontTx/>
              <a:buChar char="-"/>
            </a:pPr>
            <a:r>
              <a:rPr lang="en-US" dirty="0"/>
              <a:t>Tools: Excel + Looker Studio</a:t>
            </a:r>
          </a:p>
          <a:p>
            <a:pPr marL="342900" indent="-342900" algn="l">
              <a:buFontTx/>
              <a:buChar char="-"/>
            </a:pPr>
            <a:r>
              <a:rPr lang="en-US" dirty="0"/>
              <a:t>Clean data through Excel:</a:t>
            </a:r>
          </a:p>
          <a:p>
            <a:pPr lvl="1" algn="l"/>
            <a:r>
              <a:rPr lang="en-US" sz="2400" dirty="0"/>
              <a:t>+ Create the filter in order to identify the incorrect values.</a:t>
            </a:r>
          </a:p>
          <a:p>
            <a:pPr lvl="1" algn="l"/>
            <a:r>
              <a:rPr lang="en-US" sz="2400" dirty="0"/>
              <a:t>+ Check for missing values &amp; remove duplicate</a:t>
            </a:r>
          </a:p>
          <a:p>
            <a:pPr lvl="1" algn="l"/>
            <a:r>
              <a:rPr lang="en-US" sz="2400" dirty="0"/>
              <a:t>+ Trim values</a:t>
            </a:r>
          </a:p>
          <a:p>
            <a:pPr lvl="1" algn="l"/>
            <a:r>
              <a:rPr lang="en-US" sz="2400" dirty="0"/>
              <a:t>+ Check &amp; standardize datatype.</a:t>
            </a:r>
          </a:p>
          <a:p>
            <a:pPr lvl="1" algn="l"/>
            <a:r>
              <a:rPr lang="en-US" sz="2400" dirty="0"/>
              <a:t>+ Check &amp; handle datetime (</a:t>
            </a:r>
            <a:r>
              <a:rPr lang="en-US" sz="2400" i="1" dirty="0" err="1"/>
              <a:t>Ngày</a:t>
            </a:r>
            <a:r>
              <a:rPr lang="en-US" sz="2400" i="1" dirty="0"/>
              <a:t>, </a:t>
            </a:r>
            <a:r>
              <a:rPr lang="en-US" sz="2400" i="1" dirty="0" err="1"/>
              <a:t>Giờ</a:t>
            </a:r>
            <a:r>
              <a:rPr lang="en-US" sz="2400" dirty="0"/>
              <a:t>)</a:t>
            </a:r>
          </a:p>
          <a:p>
            <a:pPr lvl="1" algn="l"/>
            <a:r>
              <a:rPr lang="en-US" sz="2400" dirty="0"/>
              <a:t>+ Extract the week from “</a:t>
            </a:r>
            <a:r>
              <a:rPr lang="en-US" sz="2400" i="1" dirty="0" err="1"/>
              <a:t>Ngày</a:t>
            </a:r>
            <a:r>
              <a:rPr lang="en-US" sz="2400" dirty="0"/>
              <a:t>” column.</a:t>
            </a:r>
          </a:p>
          <a:p>
            <a:pPr lvl="1" algn="l"/>
            <a:endParaRPr lang="en-US" sz="2400" dirty="0"/>
          </a:p>
        </p:txBody>
      </p:sp>
    </p:spTree>
    <p:extLst>
      <p:ext uri="{BB962C8B-B14F-4D97-AF65-F5344CB8AC3E}">
        <p14:creationId xmlns:p14="http://schemas.microsoft.com/office/powerpoint/2010/main" val="322502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4A02-1A93-1167-C03A-C1602DFBF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4BE83-CACE-AE3A-3B12-D6D2410AD16A}"/>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4554B2F7-8E10-9488-9A2A-C3C5788A564F}"/>
              </a:ext>
            </a:extLst>
          </p:cNvPr>
          <p:cNvSpPr>
            <a:spLocks noGrp="1"/>
          </p:cNvSpPr>
          <p:nvPr>
            <p:ph type="subTitle" idx="1"/>
          </p:nvPr>
        </p:nvSpPr>
        <p:spPr>
          <a:xfrm>
            <a:off x="0" y="921041"/>
            <a:ext cx="12192000" cy="5936959"/>
          </a:xfrm>
        </p:spPr>
        <p:txBody>
          <a:bodyPr>
            <a:normAutofit/>
          </a:bodyPr>
          <a:lstStyle/>
          <a:p>
            <a:pPr algn="l"/>
            <a:r>
              <a:rPr lang="en-US" b="1" dirty="0"/>
              <a:t>4. Analyze</a:t>
            </a:r>
            <a:endParaRPr lang="en-US" dirty="0"/>
          </a:p>
          <a:p>
            <a:pPr algn="l"/>
            <a:r>
              <a:rPr lang="en-US" dirty="0"/>
              <a:t>- </a:t>
            </a:r>
            <a:r>
              <a:rPr lang="en-US" b="1" dirty="0"/>
              <a:t>Overall Revenue Performance</a:t>
            </a:r>
            <a:r>
              <a:rPr lang="en-US" dirty="0"/>
              <a:t>:</a:t>
            </a:r>
          </a:p>
          <a:p>
            <a:pPr algn="l"/>
            <a:r>
              <a:rPr lang="en-US" dirty="0"/>
              <a:t>	+ Key metrics: Total Revenue (gross sales) and Net Revenue (= gross sales - discounts - promotions). </a:t>
            </a:r>
          </a:p>
          <a:p>
            <a:pPr algn="l"/>
            <a:r>
              <a:rPr lang="en-US" dirty="0"/>
              <a:t>	+ Analyze daily and weekly revenue trends to determine whether the business is growing or declining over time.</a:t>
            </a:r>
          </a:p>
          <a:p>
            <a:pPr algn="l"/>
            <a:r>
              <a:rPr lang="en-US" dirty="0"/>
              <a:t>- </a:t>
            </a:r>
            <a:r>
              <a:rPr lang="en-US" b="1" dirty="0"/>
              <a:t>Product Performance &amp; Menu Optimization</a:t>
            </a:r>
            <a:r>
              <a:rPr lang="en-US" dirty="0"/>
              <a:t>:</a:t>
            </a:r>
          </a:p>
          <a:p>
            <a:pPr algn="l"/>
            <a:r>
              <a:rPr lang="en-US" dirty="0"/>
              <a:t>	+ Evaluate dish performance by listing the top 10 best-selling items by revenue and by quantity, and identify the bottom 10 underperforming items. </a:t>
            </a:r>
          </a:p>
          <a:p>
            <a:pPr algn="l"/>
            <a:r>
              <a:rPr lang="en-US" dirty="0"/>
              <a:t>	+ Review revenue contribution by menu categories (main dishes, appetizers, drinks, etc.). </a:t>
            </a:r>
          </a:p>
          <a:p>
            <a:pPr algn="l"/>
            <a:r>
              <a:rPr lang="en-US" dirty="0"/>
              <a:t>	+ Perform cross-selling analysis to find dish pairs frequently ordered together and recommend potential combo offerings. </a:t>
            </a:r>
          </a:p>
          <a:p>
            <a:pPr algn="l"/>
            <a:r>
              <a:rPr lang="en-US" dirty="0"/>
              <a:t>	+ Apply a BCG matrix to categorize menu items into Stars, Cash Cows, Question Marks, and Dogs to guide menu strategy.</a:t>
            </a:r>
          </a:p>
          <a:p>
            <a:pPr algn="l"/>
            <a:endParaRPr lang="en-US" dirty="0"/>
          </a:p>
          <a:p>
            <a:pPr algn="l"/>
            <a:endParaRPr lang="en-US" dirty="0"/>
          </a:p>
        </p:txBody>
      </p:sp>
    </p:spTree>
    <p:extLst>
      <p:ext uri="{BB962C8B-B14F-4D97-AF65-F5344CB8AC3E}">
        <p14:creationId xmlns:p14="http://schemas.microsoft.com/office/powerpoint/2010/main" val="2026128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4EC26-AD3E-B00E-DCAF-524A990D5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59A19-F3CD-BA78-EEA9-BA55EC56B114}"/>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B29273D8-EAC5-EEF7-882D-868C92E23BE2}"/>
              </a:ext>
            </a:extLst>
          </p:cNvPr>
          <p:cNvSpPr>
            <a:spLocks noGrp="1"/>
          </p:cNvSpPr>
          <p:nvPr>
            <p:ph type="subTitle" idx="1"/>
          </p:nvPr>
        </p:nvSpPr>
        <p:spPr>
          <a:xfrm>
            <a:off x="0" y="921041"/>
            <a:ext cx="12192000" cy="5936959"/>
          </a:xfrm>
        </p:spPr>
        <p:txBody>
          <a:bodyPr>
            <a:normAutofit/>
          </a:bodyPr>
          <a:lstStyle/>
          <a:p>
            <a:pPr algn="l"/>
            <a:r>
              <a:rPr lang="en-US" b="1" dirty="0"/>
              <a:t>4. Analyze</a:t>
            </a:r>
            <a:endParaRPr lang="en-US" dirty="0"/>
          </a:p>
          <a:p>
            <a:pPr algn="l"/>
            <a:r>
              <a:rPr lang="en-US" dirty="0"/>
              <a:t>- </a:t>
            </a:r>
            <a:r>
              <a:rPr lang="en-US" b="1" dirty="0"/>
              <a:t>Customer Behavior Insights</a:t>
            </a:r>
            <a:r>
              <a:rPr lang="en-US" dirty="0"/>
              <a:t>:</a:t>
            </a:r>
          </a:p>
          <a:p>
            <a:pPr algn="l"/>
            <a:r>
              <a:rPr lang="en-US" dirty="0"/>
              <a:t>	+ Conduct peak time analysis by examining revenue and order volume by hour of day and by day of week to identify high-demand periods. </a:t>
            </a:r>
          </a:p>
          <a:p>
            <a:pPr algn="l"/>
            <a:r>
              <a:rPr lang="en-US" dirty="0"/>
              <a:t>	+ Calculate Average Order Value (AOV) overall, and compare AOV between weekdays and weekends as well as across sales channels (dine-in, delivery apps, takeaway). </a:t>
            </a:r>
          </a:p>
          <a:p>
            <a:pPr algn="l"/>
            <a:r>
              <a:rPr lang="en-US" dirty="0"/>
              <a:t>	+ Analyze how group size affects spending behavior and item selection.</a:t>
            </a:r>
          </a:p>
          <a:p>
            <a:pPr algn="l"/>
            <a:r>
              <a:rPr lang="en-US" dirty="0"/>
              <a:t>- </a:t>
            </a:r>
            <a:r>
              <a:rPr lang="en-US" b="1" dirty="0"/>
              <a:t>Sales Channels &amp; Promotion Effectiveness</a:t>
            </a:r>
            <a:r>
              <a:rPr lang="en-US" dirty="0"/>
              <a:t>:</a:t>
            </a:r>
          </a:p>
          <a:p>
            <a:pPr algn="l"/>
            <a:r>
              <a:rPr lang="en-US" dirty="0"/>
              <a:t>	+ Assess channel performance by measuring revenue share and AOV for each channel (dine-in, delivery apps, takeaway) to identify the most profitable channels. </a:t>
            </a:r>
          </a:p>
          <a:p>
            <a:pPr algn="l"/>
            <a:r>
              <a:rPr lang="en-US" dirty="0"/>
              <a:t>	+ Evaluate promotion effectiveness by tracking usage frequency of each promotion code or campaign and comparing AOV for orders with promotions versus orders without to determine the impact of discounts on customer spending.</a:t>
            </a:r>
          </a:p>
          <a:p>
            <a:pPr algn="l"/>
            <a:endParaRPr lang="en-US" dirty="0"/>
          </a:p>
          <a:p>
            <a:pPr algn="l"/>
            <a:endParaRPr lang="en-US" dirty="0"/>
          </a:p>
        </p:txBody>
      </p:sp>
    </p:spTree>
    <p:extLst>
      <p:ext uri="{BB962C8B-B14F-4D97-AF65-F5344CB8AC3E}">
        <p14:creationId xmlns:p14="http://schemas.microsoft.com/office/powerpoint/2010/main" val="427047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8B03-55E7-C20F-4647-4476E5280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C17FE-3453-403B-768E-AB9245F11A98}"/>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DEEBC8D3-94B2-249D-C826-1D2526C69201}"/>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b="1" dirty="0"/>
          </a:p>
          <a:p>
            <a:pPr algn="l"/>
            <a:endParaRPr lang="en-US" b="1" dirty="0"/>
          </a:p>
          <a:p>
            <a:pPr algn="l"/>
            <a:endParaRPr lang="en-US" b="1" dirty="0"/>
          </a:p>
          <a:p>
            <a:pPr algn="l"/>
            <a:endParaRPr lang="en-US" b="1" dirty="0"/>
          </a:p>
          <a:p>
            <a:pPr algn="l"/>
            <a:endParaRPr lang="en-US" b="1" dirty="0"/>
          </a:p>
          <a:p>
            <a:pPr algn="l"/>
            <a:endParaRPr lang="en-US" b="1" dirty="0"/>
          </a:p>
          <a:p>
            <a:pPr algn="l"/>
            <a:endParaRPr lang="en-US" b="1" dirty="0"/>
          </a:p>
          <a:p>
            <a:pPr algn="l"/>
            <a:endParaRPr lang="en-US" b="1" dirty="0"/>
          </a:p>
          <a:p>
            <a:pPr algn="l"/>
            <a:endParaRPr lang="en-US" b="1" dirty="0"/>
          </a:p>
          <a:p>
            <a:pPr algn="l"/>
            <a:r>
              <a:rPr lang="en-US" b="1" dirty="0">
                <a:sym typeface="Wingdings" panose="05000000000000000000" pitchFamily="2" charset="2"/>
              </a:rPr>
              <a:t> </a:t>
            </a:r>
            <a:r>
              <a:rPr lang="en-US" dirty="0"/>
              <a:t>This revenue level is considered </a:t>
            </a:r>
            <a:r>
              <a:rPr lang="en-US" b="1" dirty="0"/>
              <a:t>below average </a:t>
            </a:r>
            <a:r>
              <a:rPr lang="en-US" dirty="0"/>
              <a:t>for a typical Japanese restaurant (200m/month). Revenue </a:t>
            </a:r>
            <a:r>
              <a:rPr lang="en-US" b="1" dirty="0"/>
              <a:t>fluctuates</a:t>
            </a:r>
            <a:r>
              <a:rPr lang="en-US" dirty="0"/>
              <a:t> considerably without forming a consistent trend or seasonality.</a:t>
            </a:r>
          </a:p>
          <a:p>
            <a:pPr algn="l"/>
            <a:endParaRPr lang="en-US" dirty="0"/>
          </a:p>
          <a:p>
            <a:pPr algn="l"/>
            <a:endParaRPr lang="en-US" dirty="0"/>
          </a:p>
        </p:txBody>
      </p:sp>
      <p:pic>
        <p:nvPicPr>
          <p:cNvPr id="5" name="Picture 4">
            <a:extLst>
              <a:ext uri="{FF2B5EF4-FFF2-40B4-BE49-F238E27FC236}">
                <a16:creationId xmlns:a16="http://schemas.microsoft.com/office/drawing/2014/main" id="{C439C7D2-D1C3-EFC8-EBC4-696075EDE315}"/>
              </a:ext>
            </a:extLst>
          </p:cNvPr>
          <p:cNvPicPr>
            <a:picLocks noChangeAspect="1"/>
          </p:cNvPicPr>
          <p:nvPr/>
        </p:nvPicPr>
        <p:blipFill>
          <a:blip r:embed="rId2"/>
          <a:stretch>
            <a:fillRect/>
          </a:stretch>
        </p:blipFill>
        <p:spPr>
          <a:xfrm>
            <a:off x="0" y="1209355"/>
            <a:ext cx="12192000" cy="3978465"/>
          </a:xfrm>
          <a:prstGeom prst="rect">
            <a:avLst/>
          </a:prstGeom>
        </p:spPr>
      </p:pic>
    </p:spTree>
    <p:extLst>
      <p:ext uri="{BB962C8B-B14F-4D97-AF65-F5344CB8AC3E}">
        <p14:creationId xmlns:p14="http://schemas.microsoft.com/office/powerpoint/2010/main" val="4175892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858E-3E33-321B-5FBD-8A5923DE6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9BC06-37C7-95DA-EE61-D47E7A8B3F63}"/>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2DA005E1-ADD6-38F4-8B8E-CB1638D71ACF}"/>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sym typeface="Wingdings" panose="05000000000000000000" pitchFamily="2" charset="2"/>
            </a:endParaRPr>
          </a:p>
          <a:p>
            <a:pPr algn="l"/>
            <a:endParaRPr lang="en-US" dirty="0">
              <a:sym typeface="Wingdings" panose="05000000000000000000" pitchFamily="2" charset="2"/>
            </a:endParaRPr>
          </a:p>
          <a:p>
            <a:pPr algn="l"/>
            <a:r>
              <a:rPr lang="en-US" dirty="0">
                <a:sym typeface="Wingdings" panose="05000000000000000000" pitchFamily="2" charset="2"/>
              </a:rPr>
              <a:t>- 202533 = 2025 week 33</a:t>
            </a:r>
          </a:p>
          <a:p>
            <a:pPr algn="l"/>
            <a:r>
              <a:rPr lang="en-US" dirty="0"/>
              <a:t>- The highest profit was recorded in </a:t>
            </a:r>
            <a:r>
              <a:rPr lang="en-US" b="1" dirty="0"/>
              <a:t>Week 35</a:t>
            </a:r>
            <a:r>
              <a:rPr lang="en-US" dirty="0"/>
              <a:t>,</a:t>
            </a:r>
          </a:p>
          <a:p>
            <a:pPr algn="l"/>
            <a:r>
              <a:rPr lang="en-US" dirty="0"/>
              <a:t> which corresponds to the </a:t>
            </a:r>
            <a:r>
              <a:rPr lang="en-US" b="1" dirty="0"/>
              <a:t>end of August</a:t>
            </a:r>
            <a:r>
              <a:rPr lang="en-US" dirty="0"/>
              <a:t>. This </a:t>
            </a:r>
          </a:p>
          <a:p>
            <a:pPr algn="l"/>
            <a:r>
              <a:rPr lang="en-US" dirty="0"/>
              <a:t>suggests that customer traffic tends to increase </a:t>
            </a:r>
          </a:p>
          <a:p>
            <a:pPr algn="l"/>
            <a:r>
              <a:rPr lang="en-US" dirty="0"/>
              <a:t>toward the </a:t>
            </a:r>
            <a:r>
              <a:rPr lang="en-US" b="1" dirty="0"/>
              <a:t>end of the month</a:t>
            </a:r>
            <a:r>
              <a:rPr lang="en-US" dirty="0"/>
              <a:t>, potentially leading </a:t>
            </a:r>
          </a:p>
          <a:p>
            <a:pPr algn="l"/>
            <a:r>
              <a:rPr lang="en-US" dirty="0"/>
              <a:t>to higher restaurant spending during this period.</a:t>
            </a:r>
          </a:p>
          <a:p>
            <a:pPr algn="l"/>
            <a:endParaRPr lang="en-US" dirty="0"/>
          </a:p>
        </p:txBody>
      </p:sp>
      <p:pic>
        <p:nvPicPr>
          <p:cNvPr id="6" name="Picture 5">
            <a:extLst>
              <a:ext uri="{FF2B5EF4-FFF2-40B4-BE49-F238E27FC236}">
                <a16:creationId xmlns:a16="http://schemas.microsoft.com/office/drawing/2014/main" id="{22495BF5-039E-0E06-A793-00E584010BE9}"/>
              </a:ext>
            </a:extLst>
          </p:cNvPr>
          <p:cNvPicPr>
            <a:picLocks noChangeAspect="1"/>
          </p:cNvPicPr>
          <p:nvPr/>
        </p:nvPicPr>
        <p:blipFill>
          <a:blip r:embed="rId2"/>
          <a:stretch>
            <a:fillRect/>
          </a:stretch>
        </p:blipFill>
        <p:spPr>
          <a:xfrm>
            <a:off x="6176865" y="1166326"/>
            <a:ext cx="6015135" cy="4854609"/>
          </a:xfrm>
          <a:prstGeom prst="rect">
            <a:avLst/>
          </a:prstGeom>
        </p:spPr>
      </p:pic>
    </p:spTree>
    <p:extLst>
      <p:ext uri="{BB962C8B-B14F-4D97-AF65-F5344CB8AC3E}">
        <p14:creationId xmlns:p14="http://schemas.microsoft.com/office/powerpoint/2010/main" val="734358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F8D7F-859C-47DC-554A-EE66FFFE1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B288D-2014-E1DC-0390-5412D6BA3729}"/>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9D03C615-AA95-40E9-D8DF-A3831C648DD5}"/>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sym typeface="Wingdings" panose="05000000000000000000" pitchFamily="2" charset="2"/>
            </a:endParaRPr>
          </a:p>
          <a:p>
            <a:pPr algn="l"/>
            <a:endParaRPr lang="en-US" dirty="0">
              <a:sym typeface="Wingdings" panose="05000000000000000000" pitchFamily="2" charset="2"/>
            </a:endParaRPr>
          </a:p>
          <a:p>
            <a:pPr algn="l"/>
            <a:endParaRPr lang="en-US" dirty="0"/>
          </a:p>
          <a:p>
            <a:pPr algn="l"/>
            <a:r>
              <a:rPr lang="en-US" dirty="0"/>
              <a:t>- Revenue increases significantly on </a:t>
            </a:r>
            <a:r>
              <a:rPr lang="en-US" b="1" dirty="0"/>
              <a:t>weekends</a:t>
            </a:r>
            <a:r>
              <a:rPr lang="en-US" dirty="0"/>
              <a:t> </a:t>
            </a:r>
          </a:p>
          <a:p>
            <a:pPr algn="l"/>
            <a:r>
              <a:rPr lang="en-US" dirty="0"/>
              <a:t>and </a:t>
            </a:r>
            <a:r>
              <a:rPr lang="en-US" b="1" dirty="0"/>
              <a:t>Tuesday</a:t>
            </a:r>
            <a:r>
              <a:rPr lang="en-US" dirty="0"/>
              <a:t>, while the remaining days </a:t>
            </a:r>
          </a:p>
          <a:p>
            <a:pPr algn="l"/>
            <a:r>
              <a:rPr lang="en-US" dirty="0"/>
              <a:t>maintain a normal and stable level.</a:t>
            </a:r>
          </a:p>
          <a:p>
            <a:pPr algn="l"/>
            <a:endParaRPr lang="en-US" dirty="0"/>
          </a:p>
        </p:txBody>
      </p:sp>
      <p:pic>
        <p:nvPicPr>
          <p:cNvPr id="8" name="Picture 7">
            <a:extLst>
              <a:ext uri="{FF2B5EF4-FFF2-40B4-BE49-F238E27FC236}">
                <a16:creationId xmlns:a16="http://schemas.microsoft.com/office/drawing/2014/main" id="{FC9C8C4F-B062-200B-18D5-1D5717F91110}"/>
              </a:ext>
            </a:extLst>
          </p:cNvPr>
          <p:cNvPicPr>
            <a:picLocks noChangeAspect="1"/>
          </p:cNvPicPr>
          <p:nvPr/>
        </p:nvPicPr>
        <p:blipFill>
          <a:blip r:embed="rId2"/>
          <a:stretch>
            <a:fillRect/>
          </a:stretch>
        </p:blipFill>
        <p:spPr>
          <a:xfrm>
            <a:off x="6176864" y="1446246"/>
            <a:ext cx="6015135" cy="4383054"/>
          </a:xfrm>
          <a:prstGeom prst="rect">
            <a:avLst/>
          </a:prstGeom>
        </p:spPr>
      </p:pic>
    </p:spTree>
    <p:extLst>
      <p:ext uri="{BB962C8B-B14F-4D97-AF65-F5344CB8AC3E}">
        <p14:creationId xmlns:p14="http://schemas.microsoft.com/office/powerpoint/2010/main" val="46546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A7E06-11E3-BC33-58B2-8D1615D8F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5CD19-26A9-2AE8-4330-3A872D2AC5E8}"/>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247D5A5C-F350-2968-F0B4-331072F9B4BB}"/>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sym typeface="Wingdings" panose="05000000000000000000" pitchFamily="2" charset="2"/>
            </a:endParaRPr>
          </a:p>
          <a:p>
            <a:pPr algn="l"/>
            <a:endParaRPr lang="en-US" dirty="0">
              <a:sym typeface="Wingdings" panose="05000000000000000000" pitchFamily="2" charset="2"/>
            </a:endParaRPr>
          </a:p>
          <a:p>
            <a:pPr algn="l"/>
            <a:endParaRPr lang="en-US" dirty="0"/>
          </a:p>
          <a:p>
            <a:pPr algn="l"/>
            <a:r>
              <a:rPr lang="en-US" dirty="0"/>
              <a:t>- “MÓN ĂN CHƠI” account for the largest </a:t>
            </a:r>
          </a:p>
          <a:p>
            <a:pPr algn="l"/>
            <a:r>
              <a:rPr lang="en-US" dirty="0"/>
              <a:t>share of revenue at 30%. Following that, </a:t>
            </a:r>
          </a:p>
          <a:p>
            <a:pPr algn="l"/>
            <a:r>
              <a:rPr lang="en-US" dirty="0"/>
              <a:t>“MÓN CƠM-MIẾN-MỲ”, “MÓN LẨU” &amp; </a:t>
            </a:r>
          </a:p>
          <a:p>
            <a:pPr algn="l"/>
            <a:r>
              <a:rPr lang="en-US" dirty="0"/>
              <a:t>“TRÀ NƯỚC” also contribute significantly to </a:t>
            </a:r>
          </a:p>
          <a:p>
            <a:pPr algn="l"/>
            <a:r>
              <a:rPr lang="en-US" dirty="0"/>
              <a:t>overall revenue.</a:t>
            </a:r>
          </a:p>
        </p:txBody>
      </p:sp>
      <p:pic>
        <p:nvPicPr>
          <p:cNvPr id="5" name="Picture 4">
            <a:extLst>
              <a:ext uri="{FF2B5EF4-FFF2-40B4-BE49-F238E27FC236}">
                <a16:creationId xmlns:a16="http://schemas.microsoft.com/office/drawing/2014/main" id="{C1181ECB-C37F-E125-EF88-8ADF5F908C53}"/>
              </a:ext>
            </a:extLst>
          </p:cNvPr>
          <p:cNvPicPr>
            <a:picLocks noChangeAspect="1"/>
          </p:cNvPicPr>
          <p:nvPr/>
        </p:nvPicPr>
        <p:blipFill>
          <a:blip r:embed="rId2"/>
          <a:stretch>
            <a:fillRect/>
          </a:stretch>
        </p:blipFill>
        <p:spPr>
          <a:xfrm>
            <a:off x="5859624" y="1652019"/>
            <a:ext cx="6332376" cy="4391025"/>
          </a:xfrm>
          <a:prstGeom prst="rect">
            <a:avLst/>
          </a:prstGeom>
        </p:spPr>
      </p:pic>
    </p:spTree>
    <p:extLst>
      <p:ext uri="{BB962C8B-B14F-4D97-AF65-F5344CB8AC3E}">
        <p14:creationId xmlns:p14="http://schemas.microsoft.com/office/powerpoint/2010/main" val="3035902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0C8B6-F497-FABF-CF68-B352EFAEC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403E2-C8B9-A86D-BCF9-D2AC492D660F}"/>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771183A1-8AC4-ABAE-EF8A-B46A1074E863}"/>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r>
              <a:rPr lang="en-US" dirty="0">
                <a:sym typeface="Wingdings" panose="05000000000000000000" pitchFamily="2" charset="2"/>
              </a:rPr>
              <a:t>- 3 Best-selling items:</a:t>
            </a:r>
          </a:p>
          <a:p>
            <a:pPr algn="l"/>
            <a:r>
              <a:rPr lang="en-US" dirty="0">
                <a:sym typeface="Wingdings" panose="05000000000000000000" pitchFamily="2" charset="2"/>
              </a:rPr>
              <a:t>	+ </a:t>
            </a:r>
            <a:r>
              <a:rPr lang="en-US" dirty="0" err="1">
                <a:sym typeface="Wingdings" panose="05000000000000000000" pitchFamily="2" charset="2"/>
              </a:rPr>
              <a:t>Gà</a:t>
            </a:r>
            <a:r>
              <a:rPr lang="en-US" dirty="0">
                <a:sym typeface="Wingdings" panose="05000000000000000000" pitchFamily="2" charset="2"/>
              </a:rPr>
              <a:t> </a:t>
            </a:r>
            <a:r>
              <a:rPr lang="en-US" dirty="0" err="1">
                <a:sym typeface="Wingdings" panose="05000000000000000000" pitchFamily="2" charset="2"/>
              </a:rPr>
              <a:t>nướng</a:t>
            </a:r>
            <a:r>
              <a:rPr lang="en-US" dirty="0">
                <a:sym typeface="Wingdings" panose="05000000000000000000" pitchFamily="2" charset="2"/>
              </a:rPr>
              <a:t> Teriyaki </a:t>
            </a:r>
            <a:r>
              <a:rPr lang="en-US" dirty="0" err="1">
                <a:sym typeface="Wingdings" panose="05000000000000000000" pitchFamily="2" charset="2"/>
              </a:rPr>
              <a:t>nửa</a:t>
            </a:r>
            <a:r>
              <a:rPr lang="en-US" dirty="0">
                <a:sym typeface="Wingdings" panose="05000000000000000000" pitchFamily="2" charset="2"/>
              </a:rPr>
              <a:t> con</a:t>
            </a:r>
          </a:p>
          <a:p>
            <a:pPr algn="l"/>
            <a:r>
              <a:rPr lang="en-US" dirty="0">
                <a:sym typeface="Wingdings" panose="05000000000000000000" pitchFamily="2" charset="2"/>
              </a:rPr>
              <a:t>	+ </a:t>
            </a:r>
            <a:r>
              <a:rPr lang="en-US" dirty="0" err="1">
                <a:sym typeface="Wingdings" panose="05000000000000000000" pitchFamily="2" charset="2"/>
              </a:rPr>
              <a:t>Cơm</a:t>
            </a:r>
            <a:r>
              <a:rPr lang="en-US" dirty="0">
                <a:sym typeface="Wingdings" panose="05000000000000000000" pitchFamily="2" charset="2"/>
              </a:rPr>
              <a:t> </a:t>
            </a:r>
            <a:r>
              <a:rPr lang="en-US" dirty="0" err="1">
                <a:sym typeface="Wingdings" panose="05000000000000000000" pitchFamily="2" charset="2"/>
              </a:rPr>
              <a:t>cháy</a:t>
            </a:r>
            <a:r>
              <a:rPr lang="en-US" dirty="0">
                <a:sym typeface="Wingdings" panose="05000000000000000000" pitchFamily="2" charset="2"/>
              </a:rPr>
              <a:t> Nhật </a:t>
            </a:r>
            <a:r>
              <a:rPr lang="en-US" dirty="0" err="1">
                <a:sym typeface="Wingdings" panose="05000000000000000000" pitchFamily="2" charset="2"/>
              </a:rPr>
              <a:t>Bản</a:t>
            </a:r>
            <a:endParaRPr lang="en-US" dirty="0">
              <a:sym typeface="Wingdings" panose="05000000000000000000" pitchFamily="2" charset="2"/>
            </a:endParaRPr>
          </a:p>
          <a:p>
            <a:pPr algn="l"/>
            <a:r>
              <a:rPr lang="en-US" dirty="0">
                <a:sym typeface="Wingdings" panose="05000000000000000000" pitchFamily="2" charset="2"/>
              </a:rPr>
              <a:t>	+ </a:t>
            </a:r>
            <a:r>
              <a:rPr lang="en-US" dirty="0" err="1">
                <a:sym typeface="Wingdings" panose="05000000000000000000" pitchFamily="2" charset="2"/>
              </a:rPr>
              <a:t>Lẩu</a:t>
            </a:r>
            <a:r>
              <a:rPr lang="en-US" dirty="0">
                <a:sym typeface="Wingdings" panose="05000000000000000000" pitchFamily="2" charset="2"/>
              </a:rPr>
              <a:t> </a:t>
            </a:r>
            <a:r>
              <a:rPr lang="en-US" dirty="0" err="1">
                <a:sym typeface="Wingdings" panose="05000000000000000000" pitchFamily="2" charset="2"/>
              </a:rPr>
              <a:t>xương</a:t>
            </a:r>
            <a:r>
              <a:rPr lang="en-US" dirty="0">
                <a:sym typeface="Wingdings" panose="05000000000000000000" pitchFamily="2" charset="2"/>
              </a:rPr>
              <a:t> </a:t>
            </a:r>
            <a:r>
              <a:rPr lang="en-US" dirty="0" err="1">
                <a:sym typeface="Wingdings" panose="05000000000000000000" pitchFamily="2" charset="2"/>
              </a:rPr>
              <a:t>hầm</a:t>
            </a:r>
            <a:r>
              <a:rPr lang="en-US" dirty="0">
                <a:sym typeface="Wingdings" panose="05000000000000000000" pitchFamily="2" charset="2"/>
              </a:rPr>
              <a:t> Tonkotsu</a:t>
            </a:r>
          </a:p>
          <a:p>
            <a:pPr algn="l"/>
            <a:endParaRPr lang="en-US" dirty="0">
              <a:sym typeface="Wingdings" panose="05000000000000000000" pitchFamily="2" charset="2"/>
            </a:endParaRPr>
          </a:p>
          <a:p>
            <a:pPr algn="l"/>
            <a:endParaRPr lang="en-US" dirty="0">
              <a:sym typeface="Wingdings" panose="05000000000000000000" pitchFamily="2" charset="2"/>
            </a:endParaRPr>
          </a:p>
          <a:p>
            <a:pPr algn="l"/>
            <a:r>
              <a:rPr lang="en-US" dirty="0">
                <a:sym typeface="Wingdings" panose="05000000000000000000" pitchFamily="2" charset="2"/>
              </a:rPr>
              <a:t>- 5</a:t>
            </a:r>
            <a:r>
              <a:rPr lang="en-US" dirty="0"/>
              <a:t> underperforming items:</a:t>
            </a:r>
          </a:p>
          <a:p>
            <a:pPr algn="l"/>
            <a:r>
              <a:rPr lang="en-US" dirty="0">
                <a:sym typeface="Wingdings" panose="05000000000000000000" pitchFamily="2" charset="2"/>
              </a:rPr>
              <a:t>	+ </a:t>
            </a:r>
            <a:r>
              <a:rPr lang="en-US" dirty="0" err="1">
                <a:sym typeface="Wingdings" panose="05000000000000000000" pitchFamily="2" charset="2"/>
              </a:rPr>
              <a:t>Mỳ</a:t>
            </a:r>
            <a:r>
              <a:rPr lang="en-US" dirty="0">
                <a:sym typeface="Wingdings" panose="05000000000000000000" pitchFamily="2" charset="2"/>
              </a:rPr>
              <a:t> </a:t>
            </a:r>
            <a:r>
              <a:rPr lang="en-US" dirty="0" err="1">
                <a:sym typeface="Wingdings" panose="05000000000000000000" pitchFamily="2" charset="2"/>
              </a:rPr>
              <a:t>gói</a:t>
            </a:r>
            <a:r>
              <a:rPr lang="en-US" dirty="0">
                <a:sym typeface="Wingdings" panose="05000000000000000000" pitchFamily="2" charset="2"/>
              </a:rPr>
              <a:t> Nhật </a:t>
            </a:r>
            <a:r>
              <a:rPr lang="en-US" dirty="0" err="1">
                <a:sym typeface="Wingdings" panose="05000000000000000000" pitchFamily="2" charset="2"/>
              </a:rPr>
              <a:t>thêm</a:t>
            </a:r>
            <a:endParaRPr lang="en-US" dirty="0">
              <a:sym typeface="Wingdings" panose="05000000000000000000" pitchFamily="2" charset="2"/>
            </a:endParaRPr>
          </a:p>
          <a:p>
            <a:pPr algn="l"/>
            <a:r>
              <a:rPr lang="en-US" dirty="0">
                <a:sym typeface="Wingdings" panose="05000000000000000000" pitchFamily="2" charset="2"/>
              </a:rPr>
              <a:t>	+ </a:t>
            </a:r>
            <a:r>
              <a:rPr lang="en-US" dirty="0" err="1">
                <a:sym typeface="Wingdings" panose="05000000000000000000" pitchFamily="2" charset="2"/>
              </a:rPr>
              <a:t>Nấm</a:t>
            </a:r>
            <a:r>
              <a:rPr lang="en-US" dirty="0">
                <a:sym typeface="Wingdings" panose="05000000000000000000" pitchFamily="2" charset="2"/>
              </a:rPr>
              <a:t> </a:t>
            </a:r>
            <a:r>
              <a:rPr lang="en-US" dirty="0" err="1">
                <a:sym typeface="Wingdings" panose="05000000000000000000" pitchFamily="2" charset="2"/>
              </a:rPr>
              <a:t>kim</a:t>
            </a:r>
            <a:r>
              <a:rPr lang="en-US" dirty="0">
                <a:sym typeface="Wingdings" panose="05000000000000000000" pitchFamily="2" charset="2"/>
              </a:rPr>
              <a:t> </a:t>
            </a:r>
            <a:r>
              <a:rPr lang="en-US" dirty="0" err="1">
                <a:sym typeface="Wingdings" panose="05000000000000000000" pitchFamily="2" charset="2"/>
              </a:rPr>
              <a:t>châm</a:t>
            </a:r>
            <a:r>
              <a:rPr lang="en-US" dirty="0">
                <a:sym typeface="Wingdings" panose="05000000000000000000" pitchFamily="2" charset="2"/>
              </a:rPr>
              <a:t> Enoki</a:t>
            </a:r>
          </a:p>
          <a:p>
            <a:pPr algn="l"/>
            <a:r>
              <a:rPr lang="en-US" dirty="0">
                <a:sym typeface="Wingdings" panose="05000000000000000000" pitchFamily="2" charset="2"/>
              </a:rPr>
              <a:t>	+ Rau </a:t>
            </a:r>
            <a:r>
              <a:rPr lang="en-US" dirty="0" err="1">
                <a:sym typeface="Wingdings" panose="05000000000000000000" pitchFamily="2" charset="2"/>
              </a:rPr>
              <a:t>cải</a:t>
            </a:r>
            <a:r>
              <a:rPr lang="en-US" dirty="0">
                <a:sym typeface="Wingdings" panose="05000000000000000000" pitchFamily="2" charset="2"/>
              </a:rPr>
              <a:t> </a:t>
            </a:r>
            <a:r>
              <a:rPr lang="en-US" dirty="0" err="1">
                <a:sym typeface="Wingdings" panose="05000000000000000000" pitchFamily="2" charset="2"/>
              </a:rPr>
              <a:t>ngọt</a:t>
            </a:r>
            <a:r>
              <a:rPr lang="en-US" dirty="0">
                <a:sym typeface="Wingdings" panose="05000000000000000000" pitchFamily="2" charset="2"/>
              </a:rPr>
              <a:t> </a:t>
            </a:r>
            <a:r>
              <a:rPr lang="en-US" dirty="0" err="1">
                <a:sym typeface="Wingdings" panose="05000000000000000000" pitchFamily="2" charset="2"/>
              </a:rPr>
              <a:t>luộc</a:t>
            </a:r>
            <a:endParaRPr lang="en-US" dirty="0">
              <a:sym typeface="Wingdings" panose="05000000000000000000" pitchFamily="2" charset="2"/>
            </a:endParaRPr>
          </a:p>
          <a:p>
            <a:pPr algn="l"/>
            <a:r>
              <a:rPr lang="en-US" dirty="0">
                <a:sym typeface="Wingdings" panose="05000000000000000000" pitchFamily="2" charset="2"/>
              </a:rPr>
              <a:t>	+ </a:t>
            </a:r>
            <a:r>
              <a:rPr lang="en-US" dirty="0" err="1">
                <a:sym typeface="Wingdings" panose="05000000000000000000" pitchFamily="2" charset="2"/>
              </a:rPr>
              <a:t>Nấm</a:t>
            </a:r>
            <a:r>
              <a:rPr lang="en-US" dirty="0">
                <a:sym typeface="Wingdings" panose="05000000000000000000" pitchFamily="2" charset="2"/>
              </a:rPr>
              <a:t> </a:t>
            </a:r>
            <a:r>
              <a:rPr lang="en-US" dirty="0" err="1">
                <a:sym typeface="Wingdings" panose="05000000000000000000" pitchFamily="2" charset="2"/>
              </a:rPr>
              <a:t>tuyết</a:t>
            </a:r>
            <a:r>
              <a:rPr lang="en-US" dirty="0">
                <a:sym typeface="Wingdings" panose="05000000000000000000" pitchFamily="2" charset="2"/>
              </a:rPr>
              <a:t> </a:t>
            </a:r>
            <a:r>
              <a:rPr lang="en-US" dirty="0" err="1">
                <a:sym typeface="Wingdings" panose="05000000000000000000" pitchFamily="2" charset="2"/>
              </a:rPr>
              <a:t>Shirokikurage</a:t>
            </a:r>
            <a:endParaRPr lang="en-US" dirty="0">
              <a:sym typeface="Wingdings" panose="05000000000000000000" pitchFamily="2" charset="2"/>
            </a:endParaRPr>
          </a:p>
          <a:p>
            <a:pPr algn="l"/>
            <a:r>
              <a:rPr lang="en-US" dirty="0">
                <a:sym typeface="Wingdings" panose="05000000000000000000" pitchFamily="2" charset="2"/>
              </a:rPr>
              <a:t>	+ Viên </a:t>
            </a:r>
            <a:r>
              <a:rPr lang="en-US" dirty="0" err="1">
                <a:sym typeface="Wingdings" panose="05000000000000000000" pitchFamily="2" charset="2"/>
              </a:rPr>
              <a:t>đậu</a:t>
            </a:r>
            <a:r>
              <a:rPr lang="en-US" dirty="0">
                <a:sym typeface="Wingdings" panose="05000000000000000000" pitchFamily="2" charset="2"/>
              </a:rPr>
              <a:t> </a:t>
            </a:r>
            <a:r>
              <a:rPr lang="en-US" dirty="0" err="1">
                <a:sym typeface="Wingdings" panose="05000000000000000000" pitchFamily="2" charset="2"/>
              </a:rPr>
              <a:t>hũ</a:t>
            </a:r>
            <a:r>
              <a:rPr lang="en-US" dirty="0">
                <a:sym typeface="Wingdings" panose="05000000000000000000" pitchFamily="2" charset="2"/>
              </a:rPr>
              <a:t> </a:t>
            </a:r>
            <a:r>
              <a:rPr lang="en-US" dirty="0" err="1">
                <a:sym typeface="Wingdings" panose="05000000000000000000" pitchFamily="2" charset="2"/>
              </a:rPr>
              <a:t>phô</a:t>
            </a:r>
            <a:r>
              <a:rPr lang="en-US" dirty="0">
                <a:sym typeface="Wingdings" panose="05000000000000000000" pitchFamily="2" charset="2"/>
              </a:rPr>
              <a:t> </a:t>
            </a:r>
            <a:r>
              <a:rPr lang="en-US" dirty="0" err="1">
                <a:sym typeface="Wingdings" panose="05000000000000000000" pitchFamily="2" charset="2"/>
              </a:rPr>
              <a:t>mai</a:t>
            </a:r>
            <a:endParaRPr lang="en-US" dirty="0">
              <a:sym typeface="Wingdings" panose="05000000000000000000" pitchFamily="2" charset="2"/>
            </a:endParaRPr>
          </a:p>
        </p:txBody>
      </p:sp>
      <p:pic>
        <p:nvPicPr>
          <p:cNvPr id="6" name="Picture 5">
            <a:extLst>
              <a:ext uri="{FF2B5EF4-FFF2-40B4-BE49-F238E27FC236}">
                <a16:creationId xmlns:a16="http://schemas.microsoft.com/office/drawing/2014/main" id="{DF9B1950-8F9A-4322-32B6-EE3F7F315D67}"/>
              </a:ext>
            </a:extLst>
          </p:cNvPr>
          <p:cNvPicPr>
            <a:picLocks noChangeAspect="1"/>
          </p:cNvPicPr>
          <p:nvPr/>
        </p:nvPicPr>
        <p:blipFill>
          <a:blip r:embed="rId2"/>
          <a:stretch>
            <a:fillRect/>
          </a:stretch>
        </p:blipFill>
        <p:spPr>
          <a:xfrm>
            <a:off x="5570376" y="904875"/>
            <a:ext cx="6621624" cy="5953125"/>
          </a:xfrm>
          <a:prstGeom prst="rect">
            <a:avLst/>
          </a:prstGeom>
        </p:spPr>
      </p:pic>
    </p:spTree>
    <p:extLst>
      <p:ext uri="{BB962C8B-B14F-4D97-AF65-F5344CB8AC3E}">
        <p14:creationId xmlns:p14="http://schemas.microsoft.com/office/powerpoint/2010/main" val="33065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C3B1A-FFB6-A0F7-7012-4A9B75217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0DE76-273A-6550-ADB3-B9F7B9B82EBE}"/>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5F069732-0386-235A-F331-EF04986343C9}"/>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r>
              <a:rPr lang="en-US" dirty="0">
                <a:sym typeface="Wingdings" panose="05000000000000000000" pitchFamily="2" charset="2"/>
              </a:rPr>
              <a:t>- </a:t>
            </a:r>
            <a:r>
              <a:rPr lang="en-US" b="1" dirty="0">
                <a:sym typeface="Wingdings" panose="05000000000000000000" pitchFamily="2" charset="2"/>
              </a:rPr>
              <a:t>Cross-selling</a:t>
            </a:r>
            <a:r>
              <a:rPr lang="en-US" dirty="0">
                <a:sym typeface="Wingdings" panose="05000000000000000000" pitchFamily="2" charset="2"/>
              </a:rPr>
              <a:t>: </a:t>
            </a:r>
            <a:r>
              <a:rPr lang="en-US" i="1" dirty="0">
                <a:sym typeface="Wingdings" panose="05000000000000000000" pitchFamily="2" charset="2"/>
              </a:rPr>
              <a:t>potential combo</a:t>
            </a:r>
          </a:p>
          <a:p>
            <a:pPr algn="l"/>
            <a:r>
              <a:rPr lang="en-US" dirty="0">
                <a:sym typeface="Wingdings" panose="05000000000000000000" pitchFamily="2" charset="2"/>
              </a:rPr>
              <a:t>1</a:t>
            </a:r>
            <a:r>
              <a:rPr lang="en-US" baseline="30000" dirty="0">
                <a:sym typeface="Wingdings" panose="05000000000000000000" pitchFamily="2" charset="2"/>
              </a:rPr>
              <a:t>st</a:t>
            </a:r>
            <a:r>
              <a:rPr lang="en-US" dirty="0">
                <a:sym typeface="Wingdings" panose="05000000000000000000" pitchFamily="2" charset="2"/>
              </a:rPr>
              <a:t>: </a:t>
            </a:r>
            <a:r>
              <a:rPr lang="en-US" dirty="0" err="1">
                <a:sym typeface="Wingdings" panose="05000000000000000000" pitchFamily="2" charset="2"/>
              </a:rPr>
              <a:t>Khăn</a:t>
            </a:r>
            <a:r>
              <a:rPr lang="en-US" dirty="0">
                <a:sym typeface="Wingdings" panose="05000000000000000000" pitchFamily="2" charset="2"/>
              </a:rPr>
              <a:t> </a:t>
            </a:r>
            <a:r>
              <a:rPr lang="en-US" dirty="0" err="1">
                <a:sym typeface="Wingdings" panose="05000000000000000000" pitchFamily="2" charset="2"/>
              </a:rPr>
              <a:t>lạnh</a:t>
            </a:r>
            <a:r>
              <a:rPr lang="en-US" dirty="0">
                <a:sym typeface="Wingdings" panose="05000000000000000000" pitchFamily="2" charset="2"/>
              </a:rPr>
              <a:t> </a:t>
            </a:r>
            <a:r>
              <a:rPr lang="en-US" dirty="0" err="1">
                <a:sym typeface="Wingdings" panose="05000000000000000000" pitchFamily="2" charset="2"/>
              </a:rPr>
              <a:t>Oshibori</a:t>
            </a:r>
            <a:r>
              <a:rPr lang="en-US" dirty="0">
                <a:sym typeface="Wingdings" panose="05000000000000000000" pitchFamily="2" charset="2"/>
              </a:rPr>
              <a:t> + </a:t>
            </a:r>
            <a:r>
              <a:rPr lang="en-US" dirty="0" err="1">
                <a:sym typeface="Wingdings" panose="05000000000000000000" pitchFamily="2" charset="2"/>
              </a:rPr>
              <a:t>nước</a:t>
            </a:r>
            <a:r>
              <a:rPr lang="en-US" dirty="0">
                <a:sym typeface="Wingdings" panose="05000000000000000000" pitchFamily="2" charset="2"/>
              </a:rPr>
              <a:t> </a:t>
            </a:r>
            <a:r>
              <a:rPr lang="en-US" dirty="0" err="1">
                <a:sym typeface="Wingdings" panose="05000000000000000000" pitchFamily="2" charset="2"/>
              </a:rPr>
              <a:t>khoáng</a:t>
            </a:r>
            <a:r>
              <a:rPr lang="en-US" dirty="0">
                <a:sym typeface="Wingdings" panose="05000000000000000000" pitchFamily="2" charset="2"/>
              </a:rPr>
              <a:t> Fuji.</a:t>
            </a:r>
          </a:p>
          <a:p>
            <a:pPr algn="l"/>
            <a:r>
              <a:rPr lang="en-US" dirty="0">
                <a:sym typeface="Wingdings" panose="05000000000000000000" pitchFamily="2" charset="2"/>
              </a:rPr>
              <a:t>2</a:t>
            </a:r>
            <a:r>
              <a:rPr lang="en-US" baseline="30000" dirty="0">
                <a:sym typeface="Wingdings" panose="05000000000000000000" pitchFamily="2" charset="2"/>
              </a:rPr>
              <a:t>nd</a:t>
            </a:r>
            <a:r>
              <a:rPr lang="en-US" dirty="0">
                <a:sym typeface="Wingdings" panose="05000000000000000000" pitchFamily="2" charset="2"/>
              </a:rPr>
              <a:t>: </a:t>
            </a:r>
            <a:r>
              <a:rPr lang="en-US" dirty="0" err="1">
                <a:sym typeface="Wingdings" panose="05000000000000000000" pitchFamily="2" charset="2"/>
              </a:rPr>
              <a:t>Cơm</a:t>
            </a:r>
            <a:r>
              <a:rPr lang="en-US" dirty="0">
                <a:sym typeface="Wingdings" panose="05000000000000000000" pitchFamily="2" charset="2"/>
              </a:rPr>
              <a:t> </a:t>
            </a:r>
            <a:r>
              <a:rPr lang="en-US" dirty="0" err="1">
                <a:sym typeface="Wingdings" panose="05000000000000000000" pitchFamily="2" charset="2"/>
              </a:rPr>
              <a:t>cháy</a:t>
            </a:r>
            <a:r>
              <a:rPr lang="en-US" dirty="0">
                <a:sym typeface="Wingdings" panose="05000000000000000000" pitchFamily="2" charset="2"/>
              </a:rPr>
              <a:t> Nhật + </a:t>
            </a:r>
            <a:r>
              <a:rPr lang="en-US" dirty="0" err="1">
                <a:sym typeface="Wingdings" panose="05000000000000000000" pitchFamily="2" charset="2"/>
              </a:rPr>
              <a:t>Udon</a:t>
            </a:r>
            <a:r>
              <a:rPr lang="en-US" dirty="0">
                <a:sym typeface="Wingdings" panose="05000000000000000000" pitchFamily="2" charset="2"/>
              </a:rPr>
              <a:t> </a:t>
            </a:r>
            <a:r>
              <a:rPr lang="en-US" dirty="0" err="1">
                <a:sym typeface="Wingdings" panose="05000000000000000000" pitchFamily="2" charset="2"/>
              </a:rPr>
              <a:t>xào</a:t>
            </a:r>
            <a:r>
              <a:rPr lang="en-US" dirty="0">
                <a:sym typeface="Wingdings" panose="05000000000000000000" pitchFamily="2" charset="2"/>
              </a:rPr>
              <a:t> </a:t>
            </a:r>
            <a:r>
              <a:rPr lang="en-US" dirty="0" err="1">
                <a:sym typeface="Wingdings" panose="05000000000000000000" pitchFamily="2" charset="2"/>
              </a:rPr>
              <a:t>bò</a:t>
            </a:r>
            <a:r>
              <a:rPr lang="en-US" dirty="0">
                <a:sym typeface="Wingdings" panose="05000000000000000000" pitchFamily="2" charset="2"/>
              </a:rPr>
              <a:t> </a:t>
            </a:r>
            <a:r>
              <a:rPr lang="en-US" dirty="0" err="1">
                <a:sym typeface="Wingdings" panose="05000000000000000000" pitchFamily="2" charset="2"/>
              </a:rPr>
              <a:t>sốt</a:t>
            </a:r>
            <a:r>
              <a:rPr lang="en-US" dirty="0">
                <a:sym typeface="Wingdings" panose="05000000000000000000" pitchFamily="2" charset="2"/>
              </a:rPr>
              <a:t> </a:t>
            </a:r>
            <a:r>
              <a:rPr lang="en-US" dirty="0" err="1">
                <a:sym typeface="Wingdings" panose="05000000000000000000" pitchFamily="2" charset="2"/>
              </a:rPr>
              <a:t>kem</a:t>
            </a:r>
            <a:r>
              <a:rPr lang="en-US" dirty="0">
                <a:sym typeface="Wingdings" panose="05000000000000000000" pitchFamily="2" charset="2"/>
              </a:rPr>
              <a:t> </a:t>
            </a:r>
          </a:p>
          <a:p>
            <a:pPr algn="l"/>
            <a:r>
              <a:rPr lang="en-US" dirty="0" err="1">
                <a:sym typeface="Wingdings" panose="05000000000000000000" pitchFamily="2" charset="2"/>
              </a:rPr>
              <a:t>Nấm</a:t>
            </a:r>
            <a:r>
              <a:rPr lang="en-US" dirty="0">
                <a:sym typeface="Wingdings" panose="05000000000000000000" pitchFamily="2" charset="2"/>
              </a:rPr>
              <a:t>.</a:t>
            </a:r>
          </a:p>
          <a:p>
            <a:pPr algn="l"/>
            <a:r>
              <a:rPr lang="en-US" dirty="0">
                <a:sym typeface="Wingdings" panose="05000000000000000000" pitchFamily="2" charset="2"/>
              </a:rPr>
              <a:t>3</a:t>
            </a:r>
            <a:r>
              <a:rPr lang="en-US" baseline="30000" dirty="0">
                <a:sym typeface="Wingdings" panose="05000000000000000000" pitchFamily="2" charset="2"/>
              </a:rPr>
              <a:t>rd</a:t>
            </a:r>
            <a:r>
              <a:rPr lang="en-US" dirty="0">
                <a:sym typeface="Wingdings" panose="05000000000000000000" pitchFamily="2" charset="2"/>
              </a:rPr>
              <a:t>: </a:t>
            </a:r>
            <a:r>
              <a:rPr lang="en-US" dirty="0" err="1">
                <a:sym typeface="Wingdings" panose="05000000000000000000" pitchFamily="2" charset="2"/>
              </a:rPr>
              <a:t>Chè</a:t>
            </a:r>
            <a:r>
              <a:rPr lang="en-US" dirty="0">
                <a:sym typeface="Wingdings" panose="05000000000000000000" pitchFamily="2" charset="2"/>
              </a:rPr>
              <a:t> Mochi </a:t>
            </a:r>
            <a:r>
              <a:rPr lang="en-US" dirty="0" err="1">
                <a:sym typeface="Wingdings" panose="05000000000000000000" pitchFamily="2" charset="2"/>
              </a:rPr>
              <a:t>trà</a:t>
            </a:r>
            <a:r>
              <a:rPr lang="en-US" dirty="0">
                <a:sym typeface="Wingdings" panose="05000000000000000000" pitchFamily="2" charset="2"/>
              </a:rPr>
              <a:t> </a:t>
            </a:r>
            <a:r>
              <a:rPr lang="en-US" dirty="0" err="1">
                <a:sym typeface="Wingdings" panose="05000000000000000000" pitchFamily="2" charset="2"/>
              </a:rPr>
              <a:t>xanh</a:t>
            </a:r>
            <a:r>
              <a:rPr lang="en-US" dirty="0">
                <a:sym typeface="Wingdings" panose="05000000000000000000" pitchFamily="2" charset="2"/>
              </a:rPr>
              <a:t> + </a:t>
            </a:r>
            <a:r>
              <a:rPr lang="en-US" dirty="0" err="1">
                <a:sym typeface="Wingdings" panose="05000000000000000000" pitchFamily="2" charset="2"/>
              </a:rPr>
              <a:t>Khăn</a:t>
            </a:r>
            <a:r>
              <a:rPr lang="en-US" dirty="0">
                <a:sym typeface="Wingdings" panose="05000000000000000000" pitchFamily="2" charset="2"/>
              </a:rPr>
              <a:t> </a:t>
            </a:r>
            <a:r>
              <a:rPr lang="en-US" dirty="0" err="1">
                <a:sym typeface="Wingdings" panose="05000000000000000000" pitchFamily="2" charset="2"/>
              </a:rPr>
              <a:t>lạnh</a:t>
            </a:r>
            <a:r>
              <a:rPr lang="en-US" dirty="0">
                <a:sym typeface="Wingdings" panose="05000000000000000000" pitchFamily="2" charset="2"/>
              </a:rPr>
              <a:t> </a:t>
            </a:r>
            <a:r>
              <a:rPr lang="en-US" dirty="0" err="1">
                <a:sym typeface="Wingdings" panose="05000000000000000000" pitchFamily="2" charset="2"/>
              </a:rPr>
              <a:t>Oshibori</a:t>
            </a:r>
            <a:r>
              <a:rPr lang="en-US" dirty="0">
                <a:sym typeface="Wingdings" panose="05000000000000000000" pitchFamily="2" charset="2"/>
              </a:rPr>
              <a:t>.</a:t>
            </a:r>
          </a:p>
          <a:p>
            <a:pPr algn="l"/>
            <a:r>
              <a:rPr lang="en-US" dirty="0">
                <a:sym typeface="Wingdings" panose="05000000000000000000" pitchFamily="2" charset="2"/>
              </a:rPr>
              <a:t>4</a:t>
            </a:r>
            <a:r>
              <a:rPr lang="en-US" baseline="30000" dirty="0">
                <a:sym typeface="Wingdings" panose="05000000000000000000" pitchFamily="2" charset="2"/>
              </a:rPr>
              <a:t>th</a:t>
            </a:r>
            <a:r>
              <a:rPr lang="en-US" dirty="0">
                <a:sym typeface="Wingdings" panose="05000000000000000000" pitchFamily="2" charset="2"/>
              </a:rPr>
              <a:t>: Gohan(</a:t>
            </a:r>
            <a:r>
              <a:rPr lang="en-US" dirty="0" err="1">
                <a:sym typeface="Wingdings" panose="05000000000000000000" pitchFamily="2" charset="2"/>
              </a:rPr>
              <a:t>cơm</a:t>
            </a:r>
            <a:r>
              <a:rPr lang="en-US" dirty="0">
                <a:sym typeface="Wingdings" panose="05000000000000000000" pitchFamily="2" charset="2"/>
              </a:rPr>
              <a:t> </a:t>
            </a:r>
            <a:r>
              <a:rPr lang="en-US" dirty="0" err="1">
                <a:sym typeface="Wingdings" panose="05000000000000000000" pitchFamily="2" charset="2"/>
              </a:rPr>
              <a:t>trắng</a:t>
            </a:r>
            <a:r>
              <a:rPr lang="en-US" dirty="0">
                <a:sym typeface="Wingdings" panose="05000000000000000000" pitchFamily="2" charset="2"/>
              </a:rPr>
              <a:t> Nhật) + </a:t>
            </a:r>
            <a:r>
              <a:rPr lang="en-US" dirty="0" err="1">
                <a:sym typeface="Wingdings" panose="05000000000000000000" pitchFamily="2" charset="2"/>
              </a:rPr>
              <a:t>phụ</a:t>
            </a:r>
            <a:r>
              <a:rPr lang="en-US" dirty="0">
                <a:sym typeface="Wingdings" panose="05000000000000000000" pitchFamily="2" charset="2"/>
              </a:rPr>
              <a:t> </a:t>
            </a:r>
            <a:r>
              <a:rPr lang="en-US" dirty="0" err="1">
                <a:sym typeface="Wingdings" panose="05000000000000000000" pitchFamily="2" charset="2"/>
              </a:rPr>
              <a:t>thu</a:t>
            </a:r>
            <a:r>
              <a:rPr lang="en-US" dirty="0">
                <a:sym typeface="Wingdings" panose="05000000000000000000" pitchFamily="2" charset="2"/>
              </a:rPr>
              <a:t> </a:t>
            </a:r>
            <a:r>
              <a:rPr lang="en-US" dirty="0" err="1">
                <a:sym typeface="Wingdings" panose="05000000000000000000" pitchFamily="2" charset="2"/>
              </a:rPr>
              <a:t>món</a:t>
            </a:r>
            <a:r>
              <a:rPr lang="en-US" dirty="0">
                <a:sym typeface="Wingdings" panose="05000000000000000000" pitchFamily="2" charset="2"/>
              </a:rPr>
              <a:t> </a:t>
            </a:r>
          </a:p>
          <a:p>
            <a:pPr algn="l"/>
            <a:r>
              <a:rPr lang="en-US" dirty="0" err="1">
                <a:sym typeface="Wingdings" panose="05000000000000000000" pitchFamily="2" charset="2"/>
              </a:rPr>
              <a:t>chờ</a:t>
            </a:r>
            <a:r>
              <a:rPr lang="en-US" dirty="0">
                <a:sym typeface="Wingdings" panose="05000000000000000000" pitchFamily="2" charset="2"/>
              </a:rPr>
              <a:t>.</a:t>
            </a:r>
          </a:p>
          <a:p>
            <a:pPr algn="l"/>
            <a:r>
              <a:rPr lang="en-US" dirty="0">
                <a:sym typeface="Wingdings" panose="05000000000000000000" pitchFamily="2" charset="2"/>
              </a:rPr>
              <a:t>5</a:t>
            </a:r>
            <a:r>
              <a:rPr lang="en-US" baseline="30000" dirty="0">
                <a:sym typeface="Wingdings" panose="05000000000000000000" pitchFamily="2" charset="2"/>
              </a:rPr>
              <a:t>th</a:t>
            </a:r>
            <a:r>
              <a:rPr lang="en-US" dirty="0">
                <a:sym typeface="Wingdings" panose="05000000000000000000" pitchFamily="2" charset="2"/>
              </a:rPr>
              <a:t>: </a:t>
            </a:r>
            <a:r>
              <a:rPr lang="en-US" dirty="0" err="1">
                <a:sym typeface="Wingdings" panose="05000000000000000000" pitchFamily="2" charset="2"/>
              </a:rPr>
              <a:t>Khăn</a:t>
            </a:r>
            <a:r>
              <a:rPr lang="en-US" dirty="0">
                <a:sym typeface="Wingdings" panose="05000000000000000000" pitchFamily="2" charset="2"/>
              </a:rPr>
              <a:t> </a:t>
            </a:r>
            <a:r>
              <a:rPr lang="en-US" dirty="0" err="1">
                <a:sym typeface="Wingdings" panose="05000000000000000000" pitchFamily="2" charset="2"/>
              </a:rPr>
              <a:t>lạnh</a:t>
            </a:r>
            <a:r>
              <a:rPr lang="en-US" dirty="0">
                <a:sym typeface="Wingdings" panose="05000000000000000000" pitchFamily="2" charset="2"/>
              </a:rPr>
              <a:t> </a:t>
            </a:r>
            <a:r>
              <a:rPr lang="en-US" dirty="0" err="1">
                <a:sym typeface="Wingdings" panose="05000000000000000000" pitchFamily="2" charset="2"/>
              </a:rPr>
              <a:t>Oshibori</a:t>
            </a:r>
            <a:r>
              <a:rPr lang="en-US" dirty="0">
                <a:sym typeface="Wingdings" panose="05000000000000000000" pitchFamily="2" charset="2"/>
              </a:rPr>
              <a:t> + Trà </a:t>
            </a:r>
            <a:r>
              <a:rPr lang="en-US" dirty="0" err="1">
                <a:sym typeface="Wingdings" panose="05000000000000000000" pitchFamily="2" charset="2"/>
              </a:rPr>
              <a:t>xanh</a:t>
            </a:r>
            <a:r>
              <a:rPr lang="en-US" dirty="0">
                <a:sym typeface="Wingdings" panose="05000000000000000000" pitchFamily="2" charset="2"/>
              </a:rPr>
              <a:t> </a:t>
            </a:r>
            <a:r>
              <a:rPr lang="en-US" dirty="0" err="1">
                <a:sym typeface="Wingdings" panose="05000000000000000000" pitchFamily="2" charset="2"/>
              </a:rPr>
              <a:t>lài</a:t>
            </a:r>
            <a:r>
              <a:rPr lang="en-US" dirty="0">
                <a:sym typeface="Wingdings" panose="05000000000000000000" pitchFamily="2" charset="2"/>
              </a:rPr>
              <a:t> </a:t>
            </a:r>
          </a:p>
          <a:p>
            <a:pPr algn="l"/>
            <a:r>
              <a:rPr lang="en-US" dirty="0">
                <a:sym typeface="Wingdings" panose="05000000000000000000" pitchFamily="2" charset="2"/>
              </a:rPr>
              <a:t>Genmaicha.</a:t>
            </a:r>
          </a:p>
          <a:p>
            <a:pPr algn="l"/>
            <a:r>
              <a:rPr lang="en-US" dirty="0">
                <a:sym typeface="Wingdings" panose="05000000000000000000" pitchFamily="2" charset="2"/>
              </a:rPr>
              <a:t>6</a:t>
            </a:r>
            <a:r>
              <a:rPr lang="en-US" baseline="30000" dirty="0">
                <a:sym typeface="Wingdings" panose="05000000000000000000" pitchFamily="2" charset="2"/>
              </a:rPr>
              <a:t>th</a:t>
            </a:r>
            <a:r>
              <a:rPr lang="en-US" dirty="0">
                <a:sym typeface="Wingdings" panose="05000000000000000000" pitchFamily="2" charset="2"/>
              </a:rPr>
              <a:t>: </a:t>
            </a:r>
            <a:r>
              <a:rPr lang="en-US" dirty="0" err="1">
                <a:sym typeface="Wingdings" panose="05000000000000000000" pitchFamily="2" charset="2"/>
              </a:rPr>
              <a:t>Khăn</a:t>
            </a:r>
            <a:r>
              <a:rPr lang="en-US" dirty="0">
                <a:sym typeface="Wingdings" panose="05000000000000000000" pitchFamily="2" charset="2"/>
              </a:rPr>
              <a:t> </a:t>
            </a:r>
            <a:r>
              <a:rPr lang="en-US" dirty="0" err="1">
                <a:sym typeface="Wingdings" panose="05000000000000000000" pitchFamily="2" charset="2"/>
              </a:rPr>
              <a:t>lạnh</a:t>
            </a:r>
            <a:r>
              <a:rPr lang="en-US" dirty="0">
                <a:sym typeface="Wingdings" panose="05000000000000000000" pitchFamily="2" charset="2"/>
              </a:rPr>
              <a:t> </a:t>
            </a:r>
            <a:r>
              <a:rPr lang="en-US" dirty="0" err="1">
                <a:sym typeface="Wingdings" panose="05000000000000000000" pitchFamily="2" charset="2"/>
              </a:rPr>
              <a:t>Oshibori</a:t>
            </a:r>
            <a:r>
              <a:rPr lang="en-US" dirty="0">
                <a:sym typeface="Wingdings" panose="05000000000000000000" pitchFamily="2" charset="2"/>
              </a:rPr>
              <a:t> + Trà yuzu me </a:t>
            </a:r>
            <a:r>
              <a:rPr lang="en-US" dirty="0" err="1">
                <a:sym typeface="Wingdings" panose="05000000000000000000" pitchFamily="2" charset="2"/>
              </a:rPr>
              <a:t>đá</a:t>
            </a:r>
            <a:r>
              <a:rPr lang="en-US" dirty="0">
                <a:sym typeface="Wingdings" panose="05000000000000000000" pitchFamily="2" charset="2"/>
              </a:rPr>
              <a:t>.</a:t>
            </a:r>
          </a:p>
          <a:p>
            <a:pPr algn="l"/>
            <a:r>
              <a:rPr lang="en-US" dirty="0">
                <a:sym typeface="Wingdings" panose="05000000000000000000" pitchFamily="2" charset="2"/>
              </a:rPr>
              <a:t>7</a:t>
            </a:r>
            <a:r>
              <a:rPr lang="en-US" baseline="30000" dirty="0">
                <a:sym typeface="Wingdings" panose="05000000000000000000" pitchFamily="2" charset="2"/>
              </a:rPr>
              <a:t>th</a:t>
            </a:r>
            <a:r>
              <a:rPr lang="en-US" dirty="0">
                <a:sym typeface="Wingdings" panose="05000000000000000000" pitchFamily="2" charset="2"/>
              </a:rPr>
              <a:t>: </a:t>
            </a:r>
            <a:r>
              <a:rPr lang="en-US" dirty="0" err="1">
                <a:sym typeface="Wingdings" panose="05000000000000000000" pitchFamily="2" charset="2"/>
              </a:rPr>
              <a:t>Khăn</a:t>
            </a:r>
            <a:r>
              <a:rPr lang="en-US" dirty="0">
                <a:sym typeface="Wingdings" panose="05000000000000000000" pitchFamily="2" charset="2"/>
              </a:rPr>
              <a:t> </a:t>
            </a:r>
            <a:r>
              <a:rPr lang="en-US" dirty="0" err="1">
                <a:sym typeface="Wingdings" panose="05000000000000000000" pitchFamily="2" charset="2"/>
              </a:rPr>
              <a:t>lạnh</a:t>
            </a:r>
            <a:r>
              <a:rPr lang="en-US" dirty="0">
                <a:sym typeface="Wingdings" panose="05000000000000000000" pitchFamily="2" charset="2"/>
              </a:rPr>
              <a:t> </a:t>
            </a:r>
            <a:r>
              <a:rPr lang="en-US" dirty="0" err="1">
                <a:sym typeface="Wingdings" panose="05000000000000000000" pitchFamily="2" charset="2"/>
              </a:rPr>
              <a:t>Oshibori</a:t>
            </a:r>
            <a:r>
              <a:rPr lang="en-US" dirty="0">
                <a:sym typeface="Wingdings" panose="05000000000000000000" pitchFamily="2" charset="2"/>
              </a:rPr>
              <a:t> + </a:t>
            </a:r>
            <a:r>
              <a:rPr lang="en-US" dirty="0" err="1">
                <a:sym typeface="Wingdings" panose="05000000000000000000" pitchFamily="2" charset="2"/>
              </a:rPr>
              <a:t>Nước</a:t>
            </a:r>
            <a:r>
              <a:rPr lang="en-US" dirty="0">
                <a:sym typeface="Wingdings" panose="05000000000000000000" pitchFamily="2" charset="2"/>
              </a:rPr>
              <a:t> </a:t>
            </a:r>
            <a:r>
              <a:rPr lang="en-US" dirty="0" err="1">
                <a:sym typeface="Wingdings" panose="05000000000000000000" pitchFamily="2" charset="2"/>
              </a:rPr>
              <a:t>chanh</a:t>
            </a:r>
            <a:r>
              <a:rPr lang="en-US" dirty="0">
                <a:sym typeface="Wingdings" panose="05000000000000000000" pitchFamily="2" charset="2"/>
              </a:rPr>
              <a:t> yuzu </a:t>
            </a:r>
          </a:p>
          <a:p>
            <a:pPr algn="l"/>
            <a:r>
              <a:rPr lang="en-US" dirty="0" err="1">
                <a:sym typeface="Wingdings" panose="05000000000000000000" pitchFamily="2" charset="2"/>
              </a:rPr>
              <a:t>muối</a:t>
            </a:r>
            <a:r>
              <a:rPr lang="en-US" dirty="0">
                <a:sym typeface="Wingdings" panose="05000000000000000000" pitchFamily="2" charset="2"/>
              </a:rPr>
              <a:t>.</a:t>
            </a:r>
          </a:p>
          <a:p>
            <a:pPr algn="l"/>
            <a:endParaRPr lang="en-US" dirty="0">
              <a:sym typeface="Wingdings" panose="05000000000000000000" pitchFamily="2" charset="2"/>
            </a:endParaRPr>
          </a:p>
        </p:txBody>
      </p:sp>
      <p:pic>
        <p:nvPicPr>
          <p:cNvPr id="5" name="Picture 4">
            <a:extLst>
              <a:ext uri="{FF2B5EF4-FFF2-40B4-BE49-F238E27FC236}">
                <a16:creationId xmlns:a16="http://schemas.microsoft.com/office/drawing/2014/main" id="{8D5194B2-4C2A-534B-F9F7-0A8B5E299E31}"/>
              </a:ext>
            </a:extLst>
          </p:cNvPr>
          <p:cNvPicPr>
            <a:picLocks noChangeAspect="1"/>
          </p:cNvPicPr>
          <p:nvPr/>
        </p:nvPicPr>
        <p:blipFill>
          <a:blip r:embed="rId2"/>
          <a:stretch>
            <a:fillRect/>
          </a:stretch>
        </p:blipFill>
        <p:spPr>
          <a:xfrm>
            <a:off x="5756988" y="1287624"/>
            <a:ext cx="6435012" cy="4879911"/>
          </a:xfrm>
          <a:prstGeom prst="rect">
            <a:avLst/>
          </a:prstGeom>
        </p:spPr>
      </p:pic>
    </p:spTree>
    <p:extLst>
      <p:ext uri="{BB962C8B-B14F-4D97-AF65-F5344CB8AC3E}">
        <p14:creationId xmlns:p14="http://schemas.microsoft.com/office/powerpoint/2010/main" val="2849595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F661-814E-4E75-0C3A-2E5C1779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AEBFC-6545-B7B9-776F-9E4D7030FB3A}"/>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D7304A6C-6995-06F0-4387-791F549CE14C}"/>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r>
              <a:rPr lang="en-US" dirty="0">
                <a:sym typeface="Wingdings" panose="05000000000000000000" pitchFamily="2" charset="2"/>
              </a:rPr>
              <a:t>- BCG matrix:</a:t>
            </a:r>
          </a:p>
          <a:p>
            <a:pPr algn="l"/>
            <a:r>
              <a:rPr lang="en-US" dirty="0">
                <a:sym typeface="Wingdings" panose="05000000000000000000" pitchFamily="2" charset="2"/>
              </a:rPr>
              <a:t>+ </a:t>
            </a:r>
            <a:r>
              <a:rPr lang="en-US" b="1" dirty="0">
                <a:sym typeface="Wingdings" panose="05000000000000000000" pitchFamily="2" charset="2"/>
              </a:rPr>
              <a:t>Stars</a:t>
            </a:r>
            <a:r>
              <a:rPr lang="en-US" dirty="0">
                <a:sym typeface="Wingdings" panose="05000000000000000000" pitchFamily="2" charset="2"/>
              </a:rPr>
              <a:t>: </a:t>
            </a:r>
            <a:r>
              <a:rPr lang="en-US" dirty="0"/>
              <a:t>No items were identified.</a:t>
            </a:r>
          </a:p>
          <a:p>
            <a:pPr algn="l"/>
            <a:r>
              <a:rPr lang="en-US" dirty="0">
                <a:sym typeface="Wingdings" panose="05000000000000000000" pitchFamily="2" charset="2"/>
              </a:rPr>
              <a:t>+ </a:t>
            </a:r>
            <a:r>
              <a:rPr lang="en-US" b="1" dirty="0">
                <a:sym typeface="Wingdings" panose="05000000000000000000" pitchFamily="2" charset="2"/>
              </a:rPr>
              <a:t>Cast Cows</a:t>
            </a:r>
            <a:r>
              <a:rPr lang="en-US" dirty="0">
                <a:sym typeface="Wingdings" panose="05000000000000000000" pitchFamily="2" charset="2"/>
              </a:rPr>
              <a:t>: Combo </a:t>
            </a:r>
            <a:r>
              <a:rPr lang="en-US" dirty="0" err="1">
                <a:sym typeface="Wingdings" panose="05000000000000000000" pitchFamily="2" charset="2"/>
              </a:rPr>
              <a:t>cơm</a:t>
            </a:r>
            <a:r>
              <a:rPr lang="en-US" dirty="0">
                <a:sym typeface="Wingdings" panose="05000000000000000000" pitchFamily="2" charset="2"/>
              </a:rPr>
              <a:t> </a:t>
            </a:r>
            <a:r>
              <a:rPr lang="en-US" dirty="0" err="1">
                <a:sym typeface="Wingdings" panose="05000000000000000000" pitchFamily="2" charset="2"/>
              </a:rPr>
              <a:t>gà</a:t>
            </a:r>
            <a:r>
              <a:rPr lang="en-US" dirty="0">
                <a:sym typeface="Wingdings" panose="05000000000000000000" pitchFamily="2" charset="2"/>
              </a:rPr>
              <a:t> Teriyaki + </a:t>
            </a:r>
            <a:r>
              <a:rPr lang="en-US" dirty="0" err="1">
                <a:sym typeface="Wingdings" panose="05000000000000000000" pitchFamily="2" charset="2"/>
              </a:rPr>
              <a:t>canh</a:t>
            </a:r>
            <a:r>
              <a:rPr lang="en-US" dirty="0">
                <a:sym typeface="Wingdings" panose="05000000000000000000" pitchFamily="2" charset="2"/>
              </a:rPr>
              <a:t> </a:t>
            </a:r>
          </a:p>
          <a:p>
            <a:pPr algn="l"/>
            <a:r>
              <a:rPr lang="en-US" dirty="0">
                <a:sym typeface="Wingdings" panose="05000000000000000000" pitchFamily="2" charset="2"/>
              </a:rPr>
              <a:t>Miso(</a:t>
            </a:r>
            <a:r>
              <a:rPr lang="en-US" dirty="0" err="1">
                <a:sym typeface="Wingdings" panose="05000000000000000000" pitchFamily="2" charset="2"/>
              </a:rPr>
              <a:t>nhỏ</a:t>
            </a:r>
            <a:r>
              <a:rPr lang="en-US" dirty="0">
                <a:sym typeface="Wingdings" panose="05000000000000000000" pitchFamily="2" charset="2"/>
              </a:rPr>
              <a:t>), combo </a:t>
            </a:r>
            <a:r>
              <a:rPr lang="en-US" dirty="0" err="1">
                <a:sym typeface="Wingdings" panose="05000000000000000000" pitchFamily="2" charset="2"/>
              </a:rPr>
              <a:t>cơm</a:t>
            </a:r>
            <a:r>
              <a:rPr lang="en-US" dirty="0">
                <a:sym typeface="Wingdings" panose="05000000000000000000" pitchFamily="2" charset="2"/>
              </a:rPr>
              <a:t> </a:t>
            </a:r>
            <a:r>
              <a:rPr lang="en-US" dirty="0" err="1">
                <a:sym typeface="Wingdings" panose="05000000000000000000" pitchFamily="2" charset="2"/>
              </a:rPr>
              <a:t>gà</a:t>
            </a:r>
            <a:r>
              <a:rPr lang="en-US" dirty="0">
                <a:sym typeface="Wingdings" panose="05000000000000000000" pitchFamily="2" charset="2"/>
              </a:rPr>
              <a:t> </a:t>
            </a:r>
            <a:r>
              <a:rPr lang="en-US" dirty="0" err="1">
                <a:sym typeface="Wingdings" panose="05000000000000000000" pitchFamily="2" charset="2"/>
              </a:rPr>
              <a:t>hấp</a:t>
            </a:r>
            <a:r>
              <a:rPr lang="en-US" dirty="0">
                <a:sym typeface="Wingdings" panose="05000000000000000000" pitchFamily="2" charset="2"/>
              </a:rPr>
              <a:t> + </a:t>
            </a:r>
            <a:r>
              <a:rPr lang="en-US" dirty="0" err="1">
                <a:sym typeface="Wingdings" panose="05000000000000000000" pitchFamily="2" charset="2"/>
              </a:rPr>
              <a:t>canh</a:t>
            </a:r>
            <a:r>
              <a:rPr lang="en-US" dirty="0">
                <a:sym typeface="Wingdings" panose="05000000000000000000" pitchFamily="2" charset="2"/>
              </a:rPr>
              <a:t> miso(</a:t>
            </a:r>
            <a:r>
              <a:rPr lang="en-US" dirty="0" err="1">
                <a:sym typeface="Wingdings" panose="05000000000000000000" pitchFamily="2" charset="2"/>
              </a:rPr>
              <a:t>nhỏ</a:t>
            </a:r>
            <a:r>
              <a:rPr lang="en-US" dirty="0">
                <a:sym typeface="Wingdings" panose="05000000000000000000" pitchFamily="2" charset="2"/>
              </a:rPr>
              <a:t>),</a:t>
            </a:r>
          </a:p>
          <a:p>
            <a:pPr algn="l"/>
            <a:r>
              <a:rPr lang="en-US" dirty="0" err="1">
                <a:sym typeface="Wingdings" panose="05000000000000000000" pitchFamily="2" charset="2"/>
              </a:rPr>
              <a:t>Gà</a:t>
            </a:r>
            <a:r>
              <a:rPr lang="en-US" dirty="0">
                <a:sym typeface="Wingdings" panose="05000000000000000000" pitchFamily="2" charset="2"/>
              </a:rPr>
              <a:t> </a:t>
            </a:r>
            <a:r>
              <a:rPr lang="en-US" dirty="0" err="1">
                <a:sym typeface="Wingdings" panose="05000000000000000000" pitchFamily="2" charset="2"/>
              </a:rPr>
              <a:t>nướng</a:t>
            </a:r>
            <a:r>
              <a:rPr lang="en-US" dirty="0">
                <a:sym typeface="Wingdings" panose="05000000000000000000" pitchFamily="2" charset="2"/>
              </a:rPr>
              <a:t> Teriyaki (</a:t>
            </a:r>
            <a:r>
              <a:rPr lang="en-US" dirty="0" err="1">
                <a:sym typeface="Wingdings" panose="05000000000000000000" pitchFamily="2" charset="2"/>
              </a:rPr>
              <a:t>nửa</a:t>
            </a:r>
            <a:r>
              <a:rPr lang="en-US" dirty="0">
                <a:sym typeface="Wingdings" panose="05000000000000000000" pitchFamily="2" charset="2"/>
              </a:rPr>
              <a:t> con).</a:t>
            </a:r>
          </a:p>
          <a:p>
            <a:pPr algn="l"/>
            <a:r>
              <a:rPr lang="en-US" dirty="0">
                <a:sym typeface="Wingdings" panose="05000000000000000000" pitchFamily="2" charset="2"/>
              </a:rPr>
              <a:t>+ </a:t>
            </a:r>
            <a:r>
              <a:rPr lang="en-US" b="1" dirty="0">
                <a:sym typeface="Wingdings" panose="05000000000000000000" pitchFamily="2" charset="2"/>
              </a:rPr>
              <a:t>Question marks</a:t>
            </a:r>
            <a:r>
              <a:rPr lang="en-US" dirty="0">
                <a:sym typeface="Wingdings" panose="05000000000000000000" pitchFamily="2" charset="2"/>
              </a:rPr>
              <a:t>: Trà </a:t>
            </a:r>
            <a:r>
              <a:rPr lang="en-US" dirty="0" err="1">
                <a:sym typeface="Wingdings" panose="05000000000000000000" pitchFamily="2" charset="2"/>
              </a:rPr>
              <a:t>lúa</a:t>
            </a:r>
            <a:r>
              <a:rPr lang="en-US" dirty="0">
                <a:sym typeface="Wingdings" panose="05000000000000000000" pitchFamily="2" charset="2"/>
              </a:rPr>
              <a:t> </a:t>
            </a:r>
            <a:r>
              <a:rPr lang="en-US" dirty="0" err="1">
                <a:sym typeface="Wingdings" panose="05000000000000000000" pitchFamily="2" charset="2"/>
              </a:rPr>
              <a:t>mạch</a:t>
            </a:r>
            <a:r>
              <a:rPr lang="en-US" dirty="0">
                <a:sym typeface="Wingdings" panose="05000000000000000000" pitchFamily="2" charset="2"/>
              </a:rPr>
              <a:t> </a:t>
            </a:r>
            <a:r>
              <a:rPr lang="en-US" dirty="0" err="1">
                <a:sym typeface="Wingdings" panose="05000000000000000000" pitchFamily="2" charset="2"/>
              </a:rPr>
              <a:t>Mugicha</a:t>
            </a:r>
            <a:r>
              <a:rPr lang="en-US" dirty="0">
                <a:sym typeface="Wingdings" panose="05000000000000000000" pitchFamily="2" charset="2"/>
              </a:rPr>
              <a:t>, </a:t>
            </a:r>
            <a:r>
              <a:rPr lang="en-US" dirty="0" err="1">
                <a:sym typeface="Wingdings" panose="05000000000000000000" pitchFamily="2" charset="2"/>
              </a:rPr>
              <a:t>tôm</a:t>
            </a:r>
            <a:endParaRPr lang="en-US" dirty="0">
              <a:sym typeface="Wingdings" panose="05000000000000000000" pitchFamily="2" charset="2"/>
            </a:endParaRPr>
          </a:p>
          <a:p>
            <a:pPr algn="l"/>
            <a:r>
              <a:rPr lang="en-US" dirty="0" err="1">
                <a:sym typeface="Wingdings" panose="05000000000000000000" pitchFamily="2" charset="2"/>
              </a:rPr>
              <a:t>sú</a:t>
            </a:r>
            <a:r>
              <a:rPr lang="en-US" dirty="0">
                <a:sym typeface="Wingdings" panose="05000000000000000000" pitchFamily="2" charset="2"/>
              </a:rPr>
              <a:t> </a:t>
            </a:r>
            <a:r>
              <a:rPr lang="en-US" dirty="0" err="1">
                <a:sym typeface="Wingdings" panose="05000000000000000000" pitchFamily="2" charset="2"/>
              </a:rPr>
              <a:t>chiên</a:t>
            </a:r>
            <a:r>
              <a:rPr lang="en-US" dirty="0">
                <a:sym typeface="Wingdings" panose="05000000000000000000" pitchFamily="2" charset="2"/>
              </a:rPr>
              <a:t> </a:t>
            </a:r>
            <a:r>
              <a:rPr lang="en-US" dirty="0" err="1">
                <a:sym typeface="Wingdings" panose="05000000000000000000" pitchFamily="2" charset="2"/>
              </a:rPr>
              <a:t>tỏi</a:t>
            </a:r>
            <a:r>
              <a:rPr lang="en-US" dirty="0">
                <a:sym typeface="Wingdings" panose="05000000000000000000" pitchFamily="2" charset="2"/>
              </a:rPr>
              <a:t> Ebi Chili, </a:t>
            </a:r>
            <a:r>
              <a:rPr lang="en-US" dirty="0" err="1">
                <a:sym typeface="Wingdings" panose="05000000000000000000" pitchFamily="2" charset="2"/>
              </a:rPr>
              <a:t>Bò</a:t>
            </a:r>
            <a:r>
              <a:rPr lang="en-US" dirty="0">
                <a:sym typeface="Wingdings" panose="05000000000000000000" pitchFamily="2" charset="2"/>
              </a:rPr>
              <a:t> teppanyaki, </a:t>
            </a:r>
            <a:r>
              <a:rPr lang="en-US" dirty="0" err="1">
                <a:sym typeface="Wingdings" panose="05000000000000000000" pitchFamily="2" charset="2"/>
              </a:rPr>
              <a:t>Sườn</a:t>
            </a:r>
            <a:r>
              <a:rPr lang="en-US" dirty="0">
                <a:sym typeface="Wingdings" panose="05000000000000000000" pitchFamily="2" charset="2"/>
              </a:rPr>
              <a:t> </a:t>
            </a:r>
            <a:r>
              <a:rPr lang="en-US" dirty="0" err="1">
                <a:sym typeface="Wingdings" panose="05000000000000000000" pitchFamily="2" charset="2"/>
              </a:rPr>
              <a:t>heo</a:t>
            </a:r>
            <a:endParaRPr lang="en-US" dirty="0">
              <a:sym typeface="Wingdings" panose="05000000000000000000" pitchFamily="2" charset="2"/>
            </a:endParaRPr>
          </a:p>
          <a:p>
            <a:pPr algn="l"/>
            <a:r>
              <a:rPr lang="en-US" dirty="0" err="1">
                <a:sym typeface="Wingdings" panose="05000000000000000000" pitchFamily="2" charset="2"/>
              </a:rPr>
              <a:t>nướng</a:t>
            </a:r>
            <a:r>
              <a:rPr lang="en-US" dirty="0">
                <a:sym typeface="Wingdings" panose="05000000000000000000" pitchFamily="2" charset="2"/>
              </a:rPr>
              <a:t> </a:t>
            </a:r>
            <a:r>
              <a:rPr lang="en-US" dirty="0" err="1">
                <a:sym typeface="Wingdings" panose="05000000000000000000" pitchFamily="2" charset="2"/>
              </a:rPr>
              <a:t>sốt</a:t>
            </a:r>
            <a:r>
              <a:rPr lang="en-US" dirty="0">
                <a:sym typeface="Wingdings" panose="05000000000000000000" pitchFamily="2" charset="2"/>
              </a:rPr>
              <a:t> Miso,...</a:t>
            </a:r>
          </a:p>
          <a:p>
            <a:pPr algn="l"/>
            <a:r>
              <a:rPr lang="en-US" dirty="0">
                <a:sym typeface="Wingdings" panose="05000000000000000000" pitchFamily="2" charset="2"/>
              </a:rPr>
              <a:t>+ </a:t>
            </a:r>
            <a:r>
              <a:rPr lang="en-US" b="1" dirty="0">
                <a:sym typeface="Wingdings" panose="05000000000000000000" pitchFamily="2" charset="2"/>
              </a:rPr>
              <a:t>Dogs:</a:t>
            </a:r>
            <a:r>
              <a:rPr lang="en-US" dirty="0">
                <a:sym typeface="Wingdings" panose="05000000000000000000" pitchFamily="2" charset="2"/>
              </a:rPr>
              <a:t> </a:t>
            </a:r>
            <a:r>
              <a:rPr lang="en-US" dirty="0" err="1">
                <a:sym typeface="Wingdings" panose="05000000000000000000" pitchFamily="2" charset="2"/>
              </a:rPr>
              <a:t>bia</a:t>
            </a:r>
            <a:r>
              <a:rPr lang="en-US" dirty="0">
                <a:sym typeface="Wingdings" panose="05000000000000000000" pitchFamily="2" charset="2"/>
              </a:rPr>
              <a:t> </a:t>
            </a:r>
            <a:r>
              <a:rPr lang="en-US" dirty="0" err="1">
                <a:sym typeface="Wingdings" panose="05000000000000000000" pitchFamily="2" charset="2"/>
              </a:rPr>
              <a:t>Asashi</a:t>
            </a:r>
            <a:r>
              <a:rPr lang="en-US" dirty="0">
                <a:sym typeface="Wingdings" panose="05000000000000000000" pitchFamily="2" charset="2"/>
              </a:rPr>
              <a:t> super dry, </a:t>
            </a:r>
            <a:r>
              <a:rPr lang="en-US" dirty="0" err="1">
                <a:sym typeface="Wingdings" panose="05000000000000000000" pitchFamily="2" charset="2"/>
              </a:rPr>
              <a:t>sườn</a:t>
            </a:r>
            <a:r>
              <a:rPr lang="en-US" dirty="0">
                <a:sym typeface="Wingdings" panose="05000000000000000000" pitchFamily="2" charset="2"/>
              </a:rPr>
              <a:t> </a:t>
            </a:r>
            <a:r>
              <a:rPr lang="en-US" dirty="0" err="1">
                <a:sym typeface="Wingdings" panose="05000000000000000000" pitchFamily="2" charset="2"/>
              </a:rPr>
              <a:t>heo</a:t>
            </a:r>
            <a:r>
              <a:rPr lang="en-US" dirty="0">
                <a:sym typeface="Wingdings" panose="05000000000000000000" pitchFamily="2" charset="2"/>
              </a:rPr>
              <a:t> </a:t>
            </a:r>
            <a:r>
              <a:rPr lang="en-US" dirty="0" err="1">
                <a:sym typeface="Wingdings" panose="05000000000000000000" pitchFamily="2" charset="2"/>
              </a:rPr>
              <a:t>hầm</a:t>
            </a:r>
            <a:r>
              <a:rPr lang="en-US" dirty="0">
                <a:sym typeface="Wingdings" panose="05000000000000000000" pitchFamily="2" charset="2"/>
              </a:rPr>
              <a:t> </a:t>
            </a:r>
          </a:p>
          <a:p>
            <a:pPr algn="l"/>
            <a:r>
              <a:rPr lang="en-US" dirty="0">
                <a:sym typeface="Wingdings" panose="05000000000000000000" pitchFamily="2" charset="2"/>
              </a:rPr>
              <a:t>Miso, Salad </a:t>
            </a:r>
            <a:r>
              <a:rPr lang="en-US" dirty="0" err="1">
                <a:sym typeface="Wingdings" panose="05000000000000000000" pitchFamily="2" charset="2"/>
              </a:rPr>
              <a:t>rau</a:t>
            </a:r>
            <a:r>
              <a:rPr lang="en-US" dirty="0">
                <a:sym typeface="Wingdings" panose="05000000000000000000" pitchFamily="2" charset="2"/>
              </a:rPr>
              <a:t> </a:t>
            </a:r>
            <a:r>
              <a:rPr lang="en-US" dirty="0" err="1">
                <a:sym typeface="Wingdings" panose="05000000000000000000" pitchFamily="2" charset="2"/>
              </a:rPr>
              <a:t>càng</a:t>
            </a:r>
            <a:r>
              <a:rPr lang="en-US" dirty="0">
                <a:sym typeface="Wingdings" panose="05000000000000000000" pitchFamily="2" charset="2"/>
              </a:rPr>
              <a:t> </a:t>
            </a:r>
            <a:r>
              <a:rPr lang="en-US" dirty="0" err="1">
                <a:sym typeface="Wingdings" panose="05000000000000000000" pitchFamily="2" charset="2"/>
              </a:rPr>
              <a:t>cua</a:t>
            </a:r>
            <a:r>
              <a:rPr lang="en-US" dirty="0">
                <a:sym typeface="Wingdings" panose="05000000000000000000" pitchFamily="2" charset="2"/>
              </a:rPr>
              <a:t> </a:t>
            </a:r>
            <a:r>
              <a:rPr lang="en-US" dirty="0" err="1">
                <a:sym typeface="Wingdings" panose="05000000000000000000" pitchFamily="2" charset="2"/>
              </a:rPr>
              <a:t>thịt</a:t>
            </a:r>
            <a:r>
              <a:rPr lang="en-US" dirty="0">
                <a:sym typeface="Wingdings" panose="05000000000000000000" pitchFamily="2" charset="2"/>
              </a:rPr>
              <a:t> </a:t>
            </a:r>
            <a:r>
              <a:rPr lang="en-US" dirty="0" err="1">
                <a:sym typeface="Wingdings" panose="05000000000000000000" pitchFamily="2" charset="2"/>
              </a:rPr>
              <a:t>bò</a:t>
            </a:r>
            <a:r>
              <a:rPr lang="en-US" dirty="0">
                <a:sym typeface="Wingdings" panose="05000000000000000000" pitchFamily="2" charset="2"/>
              </a:rPr>
              <a:t> Tataki, </a:t>
            </a:r>
            <a:r>
              <a:rPr lang="en-US" dirty="0" err="1">
                <a:sym typeface="Wingdings" panose="05000000000000000000" pitchFamily="2" charset="2"/>
              </a:rPr>
              <a:t>Sò</a:t>
            </a:r>
            <a:r>
              <a:rPr lang="en-US" dirty="0">
                <a:sym typeface="Wingdings" panose="05000000000000000000" pitchFamily="2" charset="2"/>
              </a:rPr>
              <a:t> </a:t>
            </a:r>
            <a:r>
              <a:rPr lang="en-US" dirty="0" err="1">
                <a:sym typeface="Wingdings" panose="05000000000000000000" pitchFamily="2" charset="2"/>
              </a:rPr>
              <a:t>điệp</a:t>
            </a:r>
            <a:endParaRPr lang="en-US" dirty="0">
              <a:sym typeface="Wingdings" panose="05000000000000000000" pitchFamily="2" charset="2"/>
            </a:endParaRPr>
          </a:p>
          <a:p>
            <a:pPr algn="l"/>
            <a:r>
              <a:rPr lang="en-US" dirty="0">
                <a:sym typeface="Wingdings" panose="05000000000000000000" pitchFamily="2" charset="2"/>
              </a:rPr>
              <a:t>Nhật </a:t>
            </a:r>
            <a:r>
              <a:rPr lang="en-US" dirty="0" err="1">
                <a:sym typeface="Wingdings" panose="05000000000000000000" pitchFamily="2" charset="2"/>
              </a:rPr>
              <a:t>áp</a:t>
            </a:r>
            <a:r>
              <a:rPr lang="en-US" dirty="0">
                <a:sym typeface="Wingdings" panose="05000000000000000000" pitchFamily="2" charset="2"/>
              </a:rPr>
              <a:t> </a:t>
            </a:r>
            <a:r>
              <a:rPr lang="en-US" dirty="0" err="1">
                <a:sym typeface="Wingdings" panose="05000000000000000000" pitchFamily="2" charset="2"/>
              </a:rPr>
              <a:t>chảo</a:t>
            </a:r>
            <a:r>
              <a:rPr lang="en-US" dirty="0">
                <a:sym typeface="Wingdings" panose="05000000000000000000" pitchFamily="2" charset="2"/>
              </a:rPr>
              <a:t> </a:t>
            </a:r>
            <a:r>
              <a:rPr lang="en-US" dirty="0" err="1">
                <a:sym typeface="Wingdings" panose="05000000000000000000" pitchFamily="2" charset="2"/>
              </a:rPr>
              <a:t>măng</a:t>
            </a:r>
            <a:r>
              <a:rPr lang="en-US" dirty="0">
                <a:sym typeface="Wingdings" panose="05000000000000000000" pitchFamily="2" charset="2"/>
              </a:rPr>
              <a:t> </a:t>
            </a:r>
            <a:r>
              <a:rPr lang="en-US" dirty="0" err="1">
                <a:sym typeface="Wingdings" panose="05000000000000000000" pitchFamily="2" charset="2"/>
              </a:rPr>
              <a:t>tây</a:t>
            </a:r>
            <a:r>
              <a:rPr lang="en-US" dirty="0">
                <a:sym typeface="Wingdings" panose="05000000000000000000" pitchFamily="2" charset="2"/>
              </a:rPr>
              <a:t>,…</a:t>
            </a:r>
            <a:r>
              <a:rPr lang="en-US" b="1" dirty="0">
                <a:sym typeface="Wingdings" panose="05000000000000000000" pitchFamily="2" charset="2"/>
              </a:rPr>
              <a:t> </a:t>
            </a:r>
          </a:p>
          <a:p>
            <a:pPr algn="l"/>
            <a:endParaRPr lang="en-US" dirty="0">
              <a:sym typeface="Wingdings" panose="05000000000000000000" pitchFamily="2" charset="2"/>
            </a:endParaRPr>
          </a:p>
        </p:txBody>
      </p:sp>
      <p:pic>
        <p:nvPicPr>
          <p:cNvPr id="6" name="Picture 5">
            <a:extLst>
              <a:ext uri="{FF2B5EF4-FFF2-40B4-BE49-F238E27FC236}">
                <a16:creationId xmlns:a16="http://schemas.microsoft.com/office/drawing/2014/main" id="{AAE40BF7-07FF-CF52-DF2A-1D54257ED78F}"/>
              </a:ext>
            </a:extLst>
          </p:cNvPr>
          <p:cNvPicPr>
            <a:picLocks noChangeAspect="1"/>
          </p:cNvPicPr>
          <p:nvPr/>
        </p:nvPicPr>
        <p:blipFill>
          <a:blip r:embed="rId2"/>
          <a:stretch>
            <a:fillRect/>
          </a:stretch>
        </p:blipFill>
        <p:spPr>
          <a:xfrm>
            <a:off x="6096000" y="1284858"/>
            <a:ext cx="6096000" cy="4938736"/>
          </a:xfrm>
          <a:prstGeom prst="rect">
            <a:avLst/>
          </a:prstGeom>
        </p:spPr>
      </p:pic>
    </p:spTree>
    <p:extLst>
      <p:ext uri="{BB962C8B-B14F-4D97-AF65-F5344CB8AC3E}">
        <p14:creationId xmlns:p14="http://schemas.microsoft.com/office/powerpoint/2010/main" val="3763593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06D20-30B8-2FD0-8928-A75BF5ABD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A3B4F-D9F8-0A4F-2ED1-A004259CA5B8}"/>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B7A00989-BB70-0F2F-4C33-57F4A5F8D111}"/>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b="1" dirty="0"/>
          </a:p>
          <a:p>
            <a:pPr algn="l"/>
            <a:endParaRPr lang="en-US" b="1" dirty="0"/>
          </a:p>
          <a:p>
            <a:pPr algn="l"/>
            <a:r>
              <a:rPr lang="en-US" b="1" dirty="0"/>
              <a:t>- Weekends</a:t>
            </a:r>
            <a:r>
              <a:rPr lang="en-US" dirty="0"/>
              <a:t> show the </a:t>
            </a:r>
            <a:r>
              <a:rPr lang="en-US" b="1" dirty="0"/>
              <a:t>highest AOV</a:t>
            </a:r>
            <a:r>
              <a:rPr lang="en-US" dirty="0"/>
              <a:t>, indicating customers spend more </a:t>
            </a:r>
          </a:p>
          <a:p>
            <a:pPr algn="l"/>
            <a:r>
              <a:rPr lang="en-US" dirty="0"/>
              <a:t>during those days. </a:t>
            </a:r>
          </a:p>
          <a:p>
            <a:pPr algn="l"/>
            <a:r>
              <a:rPr lang="en-US" b="1" dirty="0"/>
              <a:t>- Onsite orders</a:t>
            </a:r>
            <a:r>
              <a:rPr lang="en-US" dirty="0"/>
              <a:t> maintain a </a:t>
            </a:r>
            <a:r>
              <a:rPr lang="en-US" b="1" dirty="0"/>
              <a:t>high AOV</a:t>
            </a:r>
            <a:r>
              <a:rPr lang="en-US" dirty="0"/>
              <a:t>, suggesting diners tend to spend </a:t>
            </a:r>
          </a:p>
          <a:p>
            <a:pPr algn="l"/>
            <a:r>
              <a:rPr lang="en-US" dirty="0"/>
              <a:t>more when eating at the restaurant.</a:t>
            </a:r>
          </a:p>
          <a:p>
            <a:pPr algn="l"/>
            <a:r>
              <a:rPr lang="en-US" b="1" dirty="0"/>
              <a:t>- Takeaway</a:t>
            </a:r>
            <a:r>
              <a:rPr lang="en-US" dirty="0"/>
              <a:t> has the </a:t>
            </a:r>
            <a:r>
              <a:rPr lang="en-US" b="1" dirty="0"/>
              <a:t>lowest AOV</a:t>
            </a:r>
            <a:r>
              <a:rPr lang="en-US" dirty="0"/>
              <a:t>, which is typical for smaller, quick orders.</a:t>
            </a:r>
          </a:p>
          <a:p>
            <a:pPr algn="l"/>
            <a:r>
              <a:rPr lang="en-US" b="1" dirty="0"/>
              <a:t>- Weekdays</a:t>
            </a:r>
            <a:r>
              <a:rPr lang="en-US" dirty="0"/>
              <a:t> show a </a:t>
            </a:r>
            <a:r>
              <a:rPr lang="en-US" b="1" dirty="0"/>
              <a:t>moderate and stable AOV</a:t>
            </a:r>
            <a:r>
              <a:rPr lang="en-US" dirty="0"/>
              <a:t>.</a:t>
            </a:r>
            <a:endParaRPr lang="en-US" b="1" dirty="0"/>
          </a:p>
        </p:txBody>
      </p:sp>
      <p:pic>
        <p:nvPicPr>
          <p:cNvPr id="8" name="Picture 7">
            <a:extLst>
              <a:ext uri="{FF2B5EF4-FFF2-40B4-BE49-F238E27FC236}">
                <a16:creationId xmlns:a16="http://schemas.microsoft.com/office/drawing/2014/main" id="{52A8BA20-47DC-6D71-11A7-E3CD9AC8DF94}"/>
              </a:ext>
            </a:extLst>
          </p:cNvPr>
          <p:cNvPicPr>
            <a:picLocks noChangeAspect="1"/>
          </p:cNvPicPr>
          <p:nvPr/>
        </p:nvPicPr>
        <p:blipFill>
          <a:blip r:embed="rId2"/>
          <a:stretch>
            <a:fillRect/>
          </a:stretch>
        </p:blipFill>
        <p:spPr>
          <a:xfrm>
            <a:off x="9515475" y="1947863"/>
            <a:ext cx="2686050" cy="1228725"/>
          </a:xfrm>
          <a:prstGeom prst="rect">
            <a:avLst/>
          </a:prstGeom>
        </p:spPr>
      </p:pic>
      <p:pic>
        <p:nvPicPr>
          <p:cNvPr id="10" name="Picture 9">
            <a:extLst>
              <a:ext uri="{FF2B5EF4-FFF2-40B4-BE49-F238E27FC236}">
                <a16:creationId xmlns:a16="http://schemas.microsoft.com/office/drawing/2014/main" id="{4B36EF1F-B525-B385-4836-279ED5FC0209}"/>
              </a:ext>
            </a:extLst>
          </p:cNvPr>
          <p:cNvPicPr>
            <a:picLocks noChangeAspect="1"/>
          </p:cNvPicPr>
          <p:nvPr/>
        </p:nvPicPr>
        <p:blipFill>
          <a:blip r:embed="rId3"/>
          <a:stretch>
            <a:fillRect/>
          </a:stretch>
        </p:blipFill>
        <p:spPr>
          <a:xfrm>
            <a:off x="9515475" y="728663"/>
            <a:ext cx="2686050" cy="1219200"/>
          </a:xfrm>
          <a:prstGeom prst="rect">
            <a:avLst/>
          </a:prstGeom>
        </p:spPr>
      </p:pic>
      <p:pic>
        <p:nvPicPr>
          <p:cNvPr id="12" name="Picture 11">
            <a:extLst>
              <a:ext uri="{FF2B5EF4-FFF2-40B4-BE49-F238E27FC236}">
                <a16:creationId xmlns:a16="http://schemas.microsoft.com/office/drawing/2014/main" id="{3F0CC051-7A08-E24B-6F29-C92875C00C3F}"/>
              </a:ext>
            </a:extLst>
          </p:cNvPr>
          <p:cNvPicPr>
            <a:picLocks noChangeAspect="1"/>
          </p:cNvPicPr>
          <p:nvPr/>
        </p:nvPicPr>
        <p:blipFill>
          <a:blip r:embed="rId4"/>
          <a:stretch>
            <a:fillRect/>
          </a:stretch>
        </p:blipFill>
        <p:spPr>
          <a:xfrm>
            <a:off x="9515475" y="3176588"/>
            <a:ext cx="2686050" cy="1238250"/>
          </a:xfrm>
          <a:prstGeom prst="rect">
            <a:avLst/>
          </a:prstGeom>
        </p:spPr>
      </p:pic>
      <p:pic>
        <p:nvPicPr>
          <p:cNvPr id="14" name="Picture 13">
            <a:extLst>
              <a:ext uri="{FF2B5EF4-FFF2-40B4-BE49-F238E27FC236}">
                <a16:creationId xmlns:a16="http://schemas.microsoft.com/office/drawing/2014/main" id="{2EE83489-4422-59EE-89C7-03F5E73073EE}"/>
              </a:ext>
            </a:extLst>
          </p:cNvPr>
          <p:cNvPicPr>
            <a:picLocks noChangeAspect="1"/>
          </p:cNvPicPr>
          <p:nvPr/>
        </p:nvPicPr>
        <p:blipFill>
          <a:blip r:embed="rId5"/>
          <a:stretch>
            <a:fillRect/>
          </a:stretch>
        </p:blipFill>
        <p:spPr>
          <a:xfrm>
            <a:off x="9505950" y="4414838"/>
            <a:ext cx="2695575" cy="1209675"/>
          </a:xfrm>
          <a:prstGeom prst="rect">
            <a:avLst/>
          </a:prstGeom>
        </p:spPr>
      </p:pic>
      <p:pic>
        <p:nvPicPr>
          <p:cNvPr id="16" name="Picture 15">
            <a:extLst>
              <a:ext uri="{FF2B5EF4-FFF2-40B4-BE49-F238E27FC236}">
                <a16:creationId xmlns:a16="http://schemas.microsoft.com/office/drawing/2014/main" id="{22093300-6EFB-2D8F-B0A4-4A00E5D32FC0}"/>
              </a:ext>
            </a:extLst>
          </p:cNvPr>
          <p:cNvPicPr>
            <a:picLocks noChangeAspect="1"/>
          </p:cNvPicPr>
          <p:nvPr/>
        </p:nvPicPr>
        <p:blipFill>
          <a:blip r:embed="rId6"/>
          <a:stretch>
            <a:fillRect/>
          </a:stretch>
        </p:blipFill>
        <p:spPr>
          <a:xfrm>
            <a:off x="9486900" y="5643563"/>
            <a:ext cx="2705100" cy="1209675"/>
          </a:xfrm>
          <a:prstGeom prst="rect">
            <a:avLst/>
          </a:prstGeom>
        </p:spPr>
      </p:pic>
    </p:spTree>
    <p:extLst>
      <p:ext uri="{BB962C8B-B14F-4D97-AF65-F5344CB8AC3E}">
        <p14:creationId xmlns:p14="http://schemas.microsoft.com/office/powerpoint/2010/main" val="234241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7CB06-A926-A566-8882-B3172B378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B7F90-5744-9412-747E-254456D5CD2E}"/>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BC28E422-4B1C-0CBD-62DF-364F501F2540}"/>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b="1" dirty="0"/>
          </a:p>
          <a:p>
            <a:pPr algn="l"/>
            <a:r>
              <a:rPr lang="en-US" dirty="0"/>
              <a:t>- Customer traffic peaks on </a:t>
            </a:r>
            <a:r>
              <a:rPr lang="en-US" b="1" dirty="0"/>
              <a:t>weekends</a:t>
            </a:r>
            <a:r>
              <a:rPr lang="en-US" dirty="0"/>
              <a:t> and </a:t>
            </a:r>
          </a:p>
          <a:p>
            <a:pPr algn="l"/>
            <a:r>
              <a:rPr lang="en-US" b="1" dirty="0"/>
              <a:t>Tuesday</a:t>
            </a:r>
            <a:r>
              <a:rPr lang="en-US" dirty="0"/>
              <a:t>.</a:t>
            </a:r>
          </a:p>
          <a:p>
            <a:pPr algn="l"/>
            <a:endParaRPr lang="en-US" b="1" dirty="0"/>
          </a:p>
          <a:p>
            <a:pPr algn="l"/>
            <a:endParaRPr lang="en-US" b="1" dirty="0"/>
          </a:p>
          <a:p>
            <a:pPr algn="l"/>
            <a:endParaRPr lang="en-US" b="1" dirty="0"/>
          </a:p>
          <a:p>
            <a:pPr algn="l"/>
            <a:r>
              <a:rPr lang="en-US" dirty="0"/>
              <a:t>- Customer traffic is highest during the </a:t>
            </a:r>
          </a:p>
          <a:p>
            <a:pPr algn="l"/>
            <a:r>
              <a:rPr lang="en-US" dirty="0"/>
              <a:t>evening (17:00–19:00) and midday </a:t>
            </a:r>
          </a:p>
          <a:p>
            <a:pPr algn="l"/>
            <a:r>
              <a:rPr lang="en-US" dirty="0"/>
              <a:t>(11:00–12:00).</a:t>
            </a:r>
            <a:endParaRPr lang="en-US" b="1" dirty="0"/>
          </a:p>
        </p:txBody>
      </p:sp>
      <p:pic>
        <p:nvPicPr>
          <p:cNvPr id="5" name="Picture 4">
            <a:extLst>
              <a:ext uri="{FF2B5EF4-FFF2-40B4-BE49-F238E27FC236}">
                <a16:creationId xmlns:a16="http://schemas.microsoft.com/office/drawing/2014/main" id="{9A20690C-4296-9EB1-7930-F57439788A64}"/>
              </a:ext>
            </a:extLst>
          </p:cNvPr>
          <p:cNvPicPr>
            <a:picLocks noChangeAspect="1"/>
          </p:cNvPicPr>
          <p:nvPr/>
        </p:nvPicPr>
        <p:blipFill>
          <a:blip r:embed="rId2"/>
          <a:stretch>
            <a:fillRect/>
          </a:stretch>
        </p:blipFill>
        <p:spPr>
          <a:xfrm>
            <a:off x="5570376" y="936933"/>
            <a:ext cx="6621624" cy="2910599"/>
          </a:xfrm>
          <a:prstGeom prst="rect">
            <a:avLst/>
          </a:prstGeom>
        </p:spPr>
      </p:pic>
      <p:pic>
        <p:nvPicPr>
          <p:cNvPr id="7" name="Picture 6">
            <a:extLst>
              <a:ext uri="{FF2B5EF4-FFF2-40B4-BE49-F238E27FC236}">
                <a16:creationId xmlns:a16="http://schemas.microsoft.com/office/drawing/2014/main" id="{A1768762-67CC-576E-8FD3-6EF31099E9BA}"/>
              </a:ext>
            </a:extLst>
          </p:cNvPr>
          <p:cNvPicPr>
            <a:picLocks noChangeAspect="1"/>
          </p:cNvPicPr>
          <p:nvPr/>
        </p:nvPicPr>
        <p:blipFill>
          <a:blip r:embed="rId3"/>
          <a:stretch>
            <a:fillRect/>
          </a:stretch>
        </p:blipFill>
        <p:spPr>
          <a:xfrm>
            <a:off x="5570375" y="3825039"/>
            <a:ext cx="6621625" cy="3032962"/>
          </a:xfrm>
          <a:prstGeom prst="rect">
            <a:avLst/>
          </a:prstGeom>
        </p:spPr>
      </p:pic>
    </p:spTree>
    <p:extLst>
      <p:ext uri="{BB962C8B-B14F-4D97-AF65-F5344CB8AC3E}">
        <p14:creationId xmlns:p14="http://schemas.microsoft.com/office/powerpoint/2010/main" val="1151323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EC12-58CF-C2EA-5312-A06D29C74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C5AEE-0B06-4ED4-81A8-40BE4CE30A39}"/>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5C58FCD1-0A79-9A12-9C46-22843BB60EB0}"/>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p>
          <a:p>
            <a:pPr algn="l"/>
            <a:endParaRPr lang="en-US" dirty="0"/>
          </a:p>
          <a:p>
            <a:pPr algn="l"/>
            <a:endParaRPr lang="en-US" dirty="0"/>
          </a:p>
          <a:p>
            <a:pPr algn="l"/>
            <a:r>
              <a:rPr lang="en-US" dirty="0"/>
              <a:t>- The </a:t>
            </a:r>
            <a:r>
              <a:rPr lang="en-US" b="1" dirty="0"/>
              <a:t>AOV</a:t>
            </a:r>
            <a:r>
              <a:rPr lang="en-US" dirty="0"/>
              <a:t> mainly comes from groups of </a:t>
            </a:r>
          </a:p>
          <a:p>
            <a:pPr algn="l"/>
            <a:r>
              <a:rPr lang="en-US" b="1" dirty="0"/>
              <a:t>1–4 customers</a:t>
            </a:r>
            <a:r>
              <a:rPr lang="en-US" dirty="0"/>
              <a:t>, accounting for </a:t>
            </a:r>
            <a:r>
              <a:rPr lang="en-US" b="1" dirty="0"/>
              <a:t>48.5%</a:t>
            </a:r>
            <a:r>
              <a:rPr lang="en-US" dirty="0"/>
              <a:t>. </a:t>
            </a:r>
          </a:p>
          <a:p>
            <a:pPr algn="l"/>
            <a:r>
              <a:rPr lang="en-US" dirty="0"/>
              <a:t>- This is followed by groups of </a:t>
            </a:r>
            <a:r>
              <a:rPr lang="en-US" b="1" dirty="0"/>
              <a:t>5–8 customers </a:t>
            </a:r>
            <a:r>
              <a:rPr lang="en-US" dirty="0"/>
              <a:t>at </a:t>
            </a:r>
          </a:p>
          <a:p>
            <a:pPr algn="l"/>
            <a:r>
              <a:rPr lang="en-US" b="1" dirty="0"/>
              <a:t>36.4%</a:t>
            </a:r>
            <a:r>
              <a:rPr lang="en-US" dirty="0"/>
              <a:t>.</a:t>
            </a:r>
            <a:endParaRPr lang="en-US" b="1" dirty="0"/>
          </a:p>
        </p:txBody>
      </p:sp>
      <p:pic>
        <p:nvPicPr>
          <p:cNvPr id="6" name="Picture 5">
            <a:extLst>
              <a:ext uri="{FF2B5EF4-FFF2-40B4-BE49-F238E27FC236}">
                <a16:creationId xmlns:a16="http://schemas.microsoft.com/office/drawing/2014/main" id="{10E09BF3-D090-EA1B-75E3-D009609011EA}"/>
              </a:ext>
            </a:extLst>
          </p:cNvPr>
          <p:cNvPicPr>
            <a:picLocks noChangeAspect="1"/>
          </p:cNvPicPr>
          <p:nvPr/>
        </p:nvPicPr>
        <p:blipFill>
          <a:blip r:embed="rId2"/>
          <a:stretch>
            <a:fillRect/>
          </a:stretch>
        </p:blipFill>
        <p:spPr>
          <a:xfrm>
            <a:off x="6410325" y="1051070"/>
            <a:ext cx="5781675" cy="5676900"/>
          </a:xfrm>
          <a:prstGeom prst="rect">
            <a:avLst/>
          </a:prstGeom>
        </p:spPr>
      </p:pic>
    </p:spTree>
    <p:extLst>
      <p:ext uri="{BB962C8B-B14F-4D97-AF65-F5344CB8AC3E}">
        <p14:creationId xmlns:p14="http://schemas.microsoft.com/office/powerpoint/2010/main" val="3674786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56533-C8B8-BFFB-F8FF-1BE8A6105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9BB76-09A9-D1C5-5EBF-FD66BD387048}"/>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0DB47AE6-59C9-04F3-F07C-A55C11EDAE4D}"/>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p>
          <a:p>
            <a:pPr algn="l"/>
            <a:endParaRPr lang="en-US" dirty="0"/>
          </a:p>
          <a:p>
            <a:pPr algn="l"/>
            <a:r>
              <a:rPr lang="en-US" dirty="0"/>
              <a:t>- Overall, the </a:t>
            </a:r>
            <a:r>
              <a:rPr lang="en-US" b="1" dirty="0"/>
              <a:t>popular dishes </a:t>
            </a:r>
            <a:r>
              <a:rPr lang="en-US" dirty="0"/>
              <a:t>across the 3 </a:t>
            </a:r>
          </a:p>
          <a:p>
            <a:pPr algn="l"/>
            <a:r>
              <a:rPr lang="en-US" dirty="0"/>
              <a:t>groups are </a:t>
            </a:r>
            <a:r>
              <a:rPr lang="en-US" b="1" dirty="0"/>
              <a:t>quite similar</a:t>
            </a:r>
            <a:r>
              <a:rPr lang="en-US" dirty="0"/>
              <a:t>. However, larger </a:t>
            </a:r>
          </a:p>
          <a:p>
            <a:pPr algn="l"/>
            <a:r>
              <a:rPr lang="en-US" dirty="0"/>
              <a:t>groups tend to order additional items such as:</a:t>
            </a:r>
          </a:p>
          <a:p>
            <a:pPr algn="l"/>
            <a:r>
              <a:rPr lang="en-US" dirty="0"/>
              <a:t>	+ </a:t>
            </a:r>
            <a:r>
              <a:rPr lang="en-US" dirty="0" err="1"/>
              <a:t>Lưỡi</a:t>
            </a:r>
            <a:r>
              <a:rPr lang="en-US" dirty="0"/>
              <a:t> </a:t>
            </a:r>
            <a:r>
              <a:rPr lang="en-US" dirty="0" err="1"/>
              <a:t>bò</a:t>
            </a:r>
            <a:r>
              <a:rPr lang="en-US" dirty="0"/>
              <a:t> </a:t>
            </a:r>
            <a:r>
              <a:rPr lang="en-US" dirty="0" err="1"/>
              <a:t>hầm</a:t>
            </a:r>
            <a:r>
              <a:rPr lang="en-US" dirty="0"/>
              <a:t> Daikon</a:t>
            </a:r>
          </a:p>
          <a:p>
            <a:pPr algn="l"/>
            <a:r>
              <a:rPr lang="en-US" dirty="0"/>
              <a:t>	+ Salad </a:t>
            </a:r>
            <a:r>
              <a:rPr lang="en-US" dirty="0" err="1"/>
              <a:t>rong</a:t>
            </a:r>
            <a:r>
              <a:rPr lang="en-US" dirty="0"/>
              <a:t> </a:t>
            </a:r>
            <a:r>
              <a:rPr lang="en-US" dirty="0" err="1"/>
              <a:t>biển</a:t>
            </a:r>
            <a:r>
              <a:rPr lang="en-US" dirty="0"/>
              <a:t> tai </a:t>
            </a:r>
            <a:r>
              <a:rPr lang="en-US" dirty="0" err="1"/>
              <a:t>heo</a:t>
            </a:r>
            <a:endParaRPr lang="en-US" dirty="0"/>
          </a:p>
          <a:p>
            <a:pPr algn="l"/>
            <a:r>
              <a:rPr lang="en-US" dirty="0"/>
              <a:t>	+ </a:t>
            </a:r>
            <a:r>
              <a:rPr lang="en-US" dirty="0" err="1"/>
              <a:t>Lẩu</a:t>
            </a:r>
            <a:r>
              <a:rPr lang="en-US" dirty="0"/>
              <a:t> </a:t>
            </a:r>
            <a:r>
              <a:rPr lang="en-US" dirty="0" err="1"/>
              <a:t>xương</a:t>
            </a:r>
            <a:r>
              <a:rPr lang="en-US" dirty="0"/>
              <a:t> </a:t>
            </a:r>
            <a:r>
              <a:rPr lang="en-US" dirty="0" err="1"/>
              <a:t>hầm</a:t>
            </a:r>
            <a:r>
              <a:rPr lang="en-US" dirty="0"/>
              <a:t> Tonkotsu</a:t>
            </a:r>
          </a:p>
        </p:txBody>
      </p:sp>
      <p:pic>
        <p:nvPicPr>
          <p:cNvPr id="5" name="Picture 4">
            <a:extLst>
              <a:ext uri="{FF2B5EF4-FFF2-40B4-BE49-F238E27FC236}">
                <a16:creationId xmlns:a16="http://schemas.microsoft.com/office/drawing/2014/main" id="{EDBD5364-7B91-106B-2D9E-5BDBF3E04662}"/>
              </a:ext>
            </a:extLst>
          </p:cNvPr>
          <p:cNvPicPr>
            <a:picLocks noChangeAspect="1"/>
          </p:cNvPicPr>
          <p:nvPr/>
        </p:nvPicPr>
        <p:blipFill>
          <a:blip r:embed="rId2"/>
          <a:stretch>
            <a:fillRect/>
          </a:stretch>
        </p:blipFill>
        <p:spPr>
          <a:xfrm>
            <a:off x="5944183" y="921041"/>
            <a:ext cx="6247817" cy="5610388"/>
          </a:xfrm>
          <a:prstGeom prst="rect">
            <a:avLst/>
          </a:prstGeom>
        </p:spPr>
      </p:pic>
    </p:spTree>
    <p:extLst>
      <p:ext uri="{BB962C8B-B14F-4D97-AF65-F5344CB8AC3E}">
        <p14:creationId xmlns:p14="http://schemas.microsoft.com/office/powerpoint/2010/main" val="3648222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DEA45-7E8B-3AB7-EF1E-1C7D097E5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B806B-3207-7CA4-A5A6-F10DC4A0E3EF}"/>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43800E28-C41E-8CF6-5CDA-37F38815CB4C}"/>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p>
          <a:p>
            <a:pPr algn="l"/>
            <a:endParaRPr lang="en-US" dirty="0"/>
          </a:p>
          <a:p>
            <a:pPr algn="l"/>
            <a:r>
              <a:rPr lang="en-US" dirty="0"/>
              <a:t>- Most of the </a:t>
            </a:r>
            <a:r>
              <a:rPr lang="en-US" b="1" dirty="0"/>
              <a:t>revenue</a:t>
            </a:r>
            <a:r>
              <a:rPr lang="en-US" dirty="0"/>
              <a:t> comes from </a:t>
            </a:r>
            <a:r>
              <a:rPr lang="en-US" b="1" dirty="0"/>
              <a:t>dine-in</a:t>
            </a:r>
            <a:r>
              <a:rPr lang="en-US" dirty="0"/>
              <a:t> service(77.5%).</a:t>
            </a:r>
          </a:p>
          <a:p>
            <a:pPr algn="l"/>
            <a:endParaRPr lang="en-US" dirty="0"/>
          </a:p>
          <a:p>
            <a:pPr algn="l"/>
            <a:endParaRPr lang="en-US" dirty="0"/>
          </a:p>
          <a:p>
            <a:pPr algn="l"/>
            <a:endParaRPr lang="en-US" dirty="0"/>
          </a:p>
          <a:p>
            <a:pPr algn="l"/>
            <a:r>
              <a:rPr lang="en-US" dirty="0"/>
              <a:t>- The </a:t>
            </a:r>
            <a:r>
              <a:rPr lang="en-US" b="1" dirty="0"/>
              <a:t>number</a:t>
            </a:r>
            <a:r>
              <a:rPr lang="en-US" dirty="0"/>
              <a:t>, </a:t>
            </a:r>
            <a:r>
              <a:rPr lang="en-US" b="1" dirty="0"/>
              <a:t>frequency</a:t>
            </a:r>
            <a:r>
              <a:rPr lang="en-US" dirty="0"/>
              <a:t>, and </a:t>
            </a:r>
            <a:r>
              <a:rPr lang="en-US" b="1" dirty="0"/>
              <a:t>duration</a:t>
            </a:r>
            <a:r>
              <a:rPr lang="en-US" dirty="0"/>
              <a:t> of </a:t>
            </a:r>
            <a:r>
              <a:rPr lang="en-US" b="1" dirty="0"/>
              <a:t>promotional</a:t>
            </a:r>
            <a:r>
              <a:rPr lang="en-US" dirty="0"/>
              <a:t> </a:t>
            </a:r>
          </a:p>
          <a:p>
            <a:pPr algn="l"/>
            <a:r>
              <a:rPr lang="en-US" dirty="0"/>
              <a:t>strategies are still too </a:t>
            </a:r>
            <a:r>
              <a:rPr lang="en-US" b="1" dirty="0"/>
              <a:t>low </a:t>
            </a:r>
            <a:r>
              <a:rPr lang="en-US" dirty="0"/>
              <a:t>and </a:t>
            </a:r>
            <a:r>
              <a:rPr lang="en-US" b="1" dirty="0"/>
              <a:t>limited</a:t>
            </a:r>
            <a:r>
              <a:rPr lang="en-US" dirty="0"/>
              <a:t>, so their </a:t>
            </a:r>
          </a:p>
          <a:p>
            <a:pPr algn="l"/>
            <a:r>
              <a:rPr lang="en-US" dirty="0"/>
              <a:t>effectiveness cannot be </a:t>
            </a:r>
            <a:r>
              <a:rPr lang="en-US" b="1" dirty="0"/>
              <a:t>clearly</a:t>
            </a:r>
            <a:r>
              <a:rPr lang="en-US" dirty="0"/>
              <a:t> or </a:t>
            </a:r>
            <a:r>
              <a:rPr lang="en-US" b="1" dirty="0"/>
              <a:t>reliably</a:t>
            </a:r>
            <a:r>
              <a:rPr lang="en-US" dirty="0"/>
              <a:t> evaluated yet.</a:t>
            </a:r>
          </a:p>
          <a:p>
            <a:pPr marL="342900" indent="-342900" algn="l">
              <a:buFontTx/>
              <a:buChar char="-"/>
            </a:pPr>
            <a:endParaRPr lang="en-US" dirty="0"/>
          </a:p>
        </p:txBody>
      </p:sp>
      <p:pic>
        <p:nvPicPr>
          <p:cNvPr id="6" name="Picture 5">
            <a:extLst>
              <a:ext uri="{FF2B5EF4-FFF2-40B4-BE49-F238E27FC236}">
                <a16:creationId xmlns:a16="http://schemas.microsoft.com/office/drawing/2014/main" id="{A25F9E3A-AB6C-2E97-5326-BCCD267E59E7}"/>
              </a:ext>
            </a:extLst>
          </p:cNvPr>
          <p:cNvPicPr>
            <a:picLocks noChangeAspect="1"/>
          </p:cNvPicPr>
          <p:nvPr/>
        </p:nvPicPr>
        <p:blipFill>
          <a:blip r:embed="rId2"/>
          <a:stretch>
            <a:fillRect/>
          </a:stretch>
        </p:blipFill>
        <p:spPr>
          <a:xfrm>
            <a:off x="7268547" y="837065"/>
            <a:ext cx="4923454" cy="2773882"/>
          </a:xfrm>
          <a:prstGeom prst="rect">
            <a:avLst/>
          </a:prstGeom>
        </p:spPr>
      </p:pic>
      <p:pic>
        <p:nvPicPr>
          <p:cNvPr id="10" name="Picture 9">
            <a:extLst>
              <a:ext uri="{FF2B5EF4-FFF2-40B4-BE49-F238E27FC236}">
                <a16:creationId xmlns:a16="http://schemas.microsoft.com/office/drawing/2014/main" id="{39E7C382-9F12-E69C-68B3-B3D00BAC08A5}"/>
              </a:ext>
            </a:extLst>
          </p:cNvPr>
          <p:cNvPicPr>
            <a:picLocks noChangeAspect="1"/>
          </p:cNvPicPr>
          <p:nvPr/>
        </p:nvPicPr>
        <p:blipFill>
          <a:blip r:embed="rId3"/>
          <a:stretch>
            <a:fillRect/>
          </a:stretch>
        </p:blipFill>
        <p:spPr>
          <a:xfrm>
            <a:off x="7268546" y="3610947"/>
            <a:ext cx="4923454" cy="3247053"/>
          </a:xfrm>
          <a:prstGeom prst="rect">
            <a:avLst/>
          </a:prstGeom>
        </p:spPr>
      </p:pic>
    </p:spTree>
    <p:extLst>
      <p:ext uri="{BB962C8B-B14F-4D97-AF65-F5344CB8AC3E}">
        <p14:creationId xmlns:p14="http://schemas.microsoft.com/office/powerpoint/2010/main" val="2401033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8DFA8-2347-9F7B-7A54-F57584F9D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0ABE2-9BD3-C440-61CF-6F80A03E98A9}"/>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8F63AE72-07F2-973D-23F0-F41105F409D9}"/>
              </a:ext>
            </a:extLst>
          </p:cNvPr>
          <p:cNvSpPr>
            <a:spLocks noGrp="1"/>
          </p:cNvSpPr>
          <p:nvPr>
            <p:ph type="subTitle" idx="1"/>
          </p:nvPr>
        </p:nvSpPr>
        <p:spPr>
          <a:xfrm>
            <a:off x="0" y="837065"/>
            <a:ext cx="12192000" cy="6020935"/>
          </a:xfrm>
        </p:spPr>
        <p:txBody>
          <a:bodyPr>
            <a:normAutofit/>
          </a:bodyPr>
          <a:lstStyle/>
          <a:p>
            <a:pPr algn="l"/>
            <a:r>
              <a:rPr lang="en-US" b="1" dirty="0"/>
              <a:t>5. Share</a:t>
            </a:r>
          </a:p>
          <a:p>
            <a:pPr algn="l"/>
            <a:endParaRPr lang="en-US" dirty="0"/>
          </a:p>
          <a:p>
            <a:pPr algn="l"/>
            <a:r>
              <a:rPr lang="en-US" dirty="0"/>
              <a:t>- Customers who prefer paying via </a:t>
            </a:r>
            <a:r>
              <a:rPr lang="en-US" b="1" dirty="0"/>
              <a:t>bank transfer </a:t>
            </a:r>
          </a:p>
          <a:p>
            <a:pPr algn="l"/>
            <a:r>
              <a:rPr lang="en-US" dirty="0"/>
              <a:t>contribute the </a:t>
            </a:r>
            <a:r>
              <a:rPr lang="en-US" b="1" dirty="0"/>
              <a:t>largest </a:t>
            </a:r>
            <a:r>
              <a:rPr lang="en-US" dirty="0"/>
              <a:t>share of </a:t>
            </a:r>
            <a:r>
              <a:rPr lang="en-US" b="1" dirty="0"/>
              <a:t>revenue</a:t>
            </a:r>
            <a:r>
              <a:rPr lang="en-US" dirty="0"/>
              <a:t> and show a </a:t>
            </a:r>
          </a:p>
          <a:p>
            <a:pPr algn="l"/>
            <a:r>
              <a:rPr lang="en-US" b="1" dirty="0"/>
              <a:t>relatively</a:t>
            </a:r>
            <a:r>
              <a:rPr lang="en-US" dirty="0"/>
              <a:t> </a:t>
            </a:r>
            <a:r>
              <a:rPr lang="en-US" b="1" dirty="0"/>
              <a:t>strong AOV</a:t>
            </a:r>
            <a:r>
              <a:rPr lang="en-US" dirty="0"/>
              <a:t>. Notably, customer groups using </a:t>
            </a:r>
          </a:p>
          <a:p>
            <a:pPr algn="l"/>
            <a:r>
              <a:rPr lang="en-US" b="1" dirty="0"/>
              <a:t>international payment cards </a:t>
            </a:r>
            <a:r>
              <a:rPr lang="en-US" dirty="0"/>
              <a:t>exhibit exceptionally </a:t>
            </a:r>
            <a:r>
              <a:rPr lang="en-US" b="1" dirty="0"/>
              <a:t>high </a:t>
            </a:r>
          </a:p>
          <a:p>
            <a:pPr algn="l"/>
            <a:r>
              <a:rPr lang="en-US" b="1" dirty="0"/>
              <a:t>AOV</a:t>
            </a:r>
            <a:r>
              <a:rPr lang="en-US" dirty="0"/>
              <a:t> levels.</a:t>
            </a:r>
          </a:p>
          <a:p>
            <a:pPr algn="l"/>
            <a:endParaRPr lang="en-US" dirty="0"/>
          </a:p>
          <a:p>
            <a:pPr algn="l"/>
            <a:endParaRPr lang="en-US" dirty="0"/>
          </a:p>
          <a:p>
            <a:pPr algn="l"/>
            <a:r>
              <a:rPr lang="en-US" dirty="0"/>
              <a:t>- The </a:t>
            </a:r>
            <a:r>
              <a:rPr lang="en-US" b="1" dirty="0"/>
              <a:t>AOV</a:t>
            </a:r>
            <a:r>
              <a:rPr lang="en-US" dirty="0"/>
              <a:t> shows a clear and </a:t>
            </a:r>
            <a:r>
              <a:rPr lang="en-US" b="1" dirty="0"/>
              <a:t>significant increase </a:t>
            </a:r>
          </a:p>
          <a:p>
            <a:pPr algn="l"/>
            <a:r>
              <a:rPr lang="en-US" dirty="0"/>
              <a:t>whenever </a:t>
            </a:r>
            <a:r>
              <a:rPr lang="en-US" b="1" dirty="0"/>
              <a:t>promotions</a:t>
            </a:r>
            <a:r>
              <a:rPr lang="en-US" dirty="0"/>
              <a:t> are implemented.</a:t>
            </a:r>
          </a:p>
        </p:txBody>
      </p:sp>
      <p:pic>
        <p:nvPicPr>
          <p:cNvPr id="5" name="Picture 4">
            <a:extLst>
              <a:ext uri="{FF2B5EF4-FFF2-40B4-BE49-F238E27FC236}">
                <a16:creationId xmlns:a16="http://schemas.microsoft.com/office/drawing/2014/main" id="{AA085BCC-6221-2ABF-E10E-870A4579CD5D}"/>
              </a:ext>
            </a:extLst>
          </p:cNvPr>
          <p:cNvPicPr>
            <a:picLocks noChangeAspect="1"/>
          </p:cNvPicPr>
          <p:nvPr/>
        </p:nvPicPr>
        <p:blipFill>
          <a:blip r:embed="rId2"/>
          <a:stretch>
            <a:fillRect/>
          </a:stretch>
        </p:blipFill>
        <p:spPr>
          <a:xfrm>
            <a:off x="6946835" y="753090"/>
            <a:ext cx="5245165" cy="3193759"/>
          </a:xfrm>
          <a:prstGeom prst="rect">
            <a:avLst/>
          </a:prstGeom>
        </p:spPr>
      </p:pic>
      <p:pic>
        <p:nvPicPr>
          <p:cNvPr id="8" name="Picture 7">
            <a:extLst>
              <a:ext uri="{FF2B5EF4-FFF2-40B4-BE49-F238E27FC236}">
                <a16:creationId xmlns:a16="http://schemas.microsoft.com/office/drawing/2014/main" id="{B0C4A7DA-1AEF-9141-D86F-C81837D55AB3}"/>
              </a:ext>
            </a:extLst>
          </p:cNvPr>
          <p:cNvPicPr>
            <a:picLocks noChangeAspect="1"/>
          </p:cNvPicPr>
          <p:nvPr/>
        </p:nvPicPr>
        <p:blipFill>
          <a:blip r:embed="rId3"/>
          <a:stretch>
            <a:fillRect/>
          </a:stretch>
        </p:blipFill>
        <p:spPr>
          <a:xfrm>
            <a:off x="6946835" y="3946849"/>
            <a:ext cx="5245165" cy="2911151"/>
          </a:xfrm>
          <a:prstGeom prst="rect">
            <a:avLst/>
          </a:prstGeom>
        </p:spPr>
      </p:pic>
    </p:spTree>
    <p:extLst>
      <p:ext uri="{BB962C8B-B14F-4D97-AF65-F5344CB8AC3E}">
        <p14:creationId xmlns:p14="http://schemas.microsoft.com/office/powerpoint/2010/main" val="1172760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CCC9E-16A2-27AA-6797-0807B1DEC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F5CA3-6D61-20CE-60AC-8CBE985E60F6}"/>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B62385EA-C1AC-CE0C-C254-C7C681CC4BDA}"/>
              </a:ext>
            </a:extLst>
          </p:cNvPr>
          <p:cNvSpPr>
            <a:spLocks noGrp="1"/>
          </p:cNvSpPr>
          <p:nvPr>
            <p:ph type="subTitle" idx="1"/>
          </p:nvPr>
        </p:nvSpPr>
        <p:spPr>
          <a:xfrm>
            <a:off x="0" y="837065"/>
            <a:ext cx="12192000" cy="6020935"/>
          </a:xfrm>
        </p:spPr>
        <p:txBody>
          <a:bodyPr>
            <a:normAutofit/>
          </a:bodyPr>
          <a:lstStyle/>
          <a:p>
            <a:pPr algn="l"/>
            <a:r>
              <a:rPr lang="en-US" b="1" dirty="0"/>
              <a:t>6. Act</a:t>
            </a:r>
          </a:p>
          <a:p>
            <a:pPr algn="l"/>
            <a:r>
              <a:rPr lang="en-US" b="1" dirty="0"/>
              <a:t>- Optimize Traffic</a:t>
            </a:r>
            <a:r>
              <a:rPr lang="en-US" dirty="0"/>
              <a:t>: Since </a:t>
            </a:r>
            <a:r>
              <a:rPr lang="en-US" b="1" dirty="0"/>
              <a:t>weekends</a:t>
            </a:r>
            <a:r>
              <a:rPr lang="en-US" dirty="0"/>
              <a:t> &amp; </a:t>
            </a:r>
            <a:r>
              <a:rPr lang="en-US" b="1" dirty="0"/>
              <a:t>Tuesday</a:t>
            </a:r>
            <a:r>
              <a:rPr lang="en-US" dirty="0"/>
              <a:t> have the highest customer volume:</a:t>
            </a:r>
          </a:p>
          <a:p>
            <a:pPr algn="l"/>
            <a:r>
              <a:rPr lang="en-US" dirty="0"/>
              <a:t>	+ Prioritize </a:t>
            </a:r>
            <a:r>
              <a:rPr lang="en-US" b="1" dirty="0"/>
              <a:t>staffing</a:t>
            </a:r>
            <a:r>
              <a:rPr lang="en-US" dirty="0"/>
              <a:t> during peak periods.</a:t>
            </a:r>
          </a:p>
          <a:p>
            <a:pPr algn="l"/>
            <a:r>
              <a:rPr lang="en-US" dirty="0"/>
              <a:t>	+ Push high-value </a:t>
            </a:r>
            <a:r>
              <a:rPr lang="en-US" b="1" dirty="0"/>
              <a:t>combo</a:t>
            </a:r>
            <a:r>
              <a:rPr lang="en-US" dirty="0"/>
              <a:t> upselling.</a:t>
            </a:r>
          </a:p>
          <a:p>
            <a:pPr algn="l"/>
            <a:r>
              <a:rPr lang="en-US" dirty="0"/>
              <a:t>	+ Cross-sell signature </a:t>
            </a:r>
            <a:r>
              <a:rPr lang="en-US" b="1" dirty="0"/>
              <a:t>drinks</a:t>
            </a:r>
            <a:r>
              <a:rPr lang="en-US" dirty="0"/>
              <a:t>.</a:t>
            </a:r>
          </a:p>
          <a:p>
            <a:pPr algn="l"/>
            <a:r>
              <a:rPr lang="en-US" dirty="0"/>
              <a:t>- </a:t>
            </a:r>
            <a:r>
              <a:rPr lang="en-US" b="1" dirty="0"/>
              <a:t>Increase Onsite Revenue</a:t>
            </a:r>
            <a:r>
              <a:rPr lang="en-US" dirty="0"/>
              <a:t>: Focus on enhancing the </a:t>
            </a:r>
            <a:r>
              <a:rPr lang="en-US" b="1" dirty="0"/>
              <a:t>onsite dining </a:t>
            </a:r>
            <a:r>
              <a:rPr lang="en-US" dirty="0"/>
              <a:t>experience, as it is the primary revenue source. Improve </a:t>
            </a:r>
            <a:r>
              <a:rPr lang="en-US" b="1" dirty="0"/>
              <a:t>peak-hour</a:t>
            </a:r>
            <a:r>
              <a:rPr lang="en-US" dirty="0"/>
              <a:t> performance by:</a:t>
            </a:r>
          </a:p>
          <a:p>
            <a:pPr algn="l"/>
            <a:r>
              <a:rPr lang="en-US" dirty="0"/>
              <a:t>	+ Introducing </a:t>
            </a:r>
            <a:r>
              <a:rPr lang="en-US" b="1" dirty="0"/>
              <a:t>set menus </a:t>
            </a:r>
            <a:r>
              <a:rPr lang="en-US" dirty="0"/>
              <a:t>for groups of 1–4, 5–8 &amp; &gt;8.</a:t>
            </a:r>
          </a:p>
          <a:p>
            <a:pPr algn="l"/>
            <a:r>
              <a:rPr lang="en-US" dirty="0"/>
              <a:t>	+ Prioritizing shareable </a:t>
            </a:r>
            <a:r>
              <a:rPr lang="en-US" b="1" dirty="0"/>
              <a:t>dishes</a:t>
            </a:r>
            <a:r>
              <a:rPr lang="en-US" dirty="0"/>
              <a:t>, </a:t>
            </a:r>
            <a:r>
              <a:rPr lang="en-US" b="1" dirty="0"/>
              <a:t>combos</a:t>
            </a:r>
            <a:r>
              <a:rPr lang="en-US" dirty="0"/>
              <a:t>, and </a:t>
            </a:r>
            <a:r>
              <a:rPr lang="en-US" b="1" dirty="0"/>
              <a:t>top-selling</a:t>
            </a:r>
            <a:r>
              <a:rPr lang="en-US" dirty="0"/>
              <a:t> items.</a:t>
            </a:r>
          </a:p>
          <a:p>
            <a:pPr algn="l"/>
            <a:r>
              <a:rPr lang="en-US" dirty="0"/>
              <a:t>- </a:t>
            </a:r>
            <a:r>
              <a:rPr lang="en-US" b="1" dirty="0"/>
              <a:t>Boost AOV for Larger Customer Groups</a:t>
            </a:r>
            <a:r>
              <a:rPr lang="en-US" dirty="0"/>
              <a:t>: </a:t>
            </a:r>
          </a:p>
          <a:p>
            <a:pPr algn="l"/>
            <a:r>
              <a:rPr lang="en-US" dirty="0"/>
              <a:t>	+ Launch </a:t>
            </a:r>
            <a:r>
              <a:rPr lang="en-US" b="1" dirty="0"/>
              <a:t>Family / Group Combo</a:t>
            </a:r>
            <a:r>
              <a:rPr lang="en-US" dirty="0"/>
              <a:t> packages</a:t>
            </a:r>
          </a:p>
          <a:p>
            <a:pPr algn="l"/>
            <a:r>
              <a:rPr lang="en-US" dirty="0"/>
              <a:t>	+ Encourage upselling: </a:t>
            </a:r>
            <a:r>
              <a:rPr lang="en-US" b="1" dirty="0"/>
              <a:t>snacks/appetizers</a:t>
            </a:r>
            <a:r>
              <a:rPr lang="en-US" dirty="0"/>
              <a:t>, </a:t>
            </a:r>
            <a:r>
              <a:rPr lang="en-US" b="1" dirty="0"/>
              <a:t>signature drinks</a:t>
            </a:r>
            <a:r>
              <a:rPr lang="en-US" dirty="0"/>
              <a:t>, </a:t>
            </a:r>
            <a:r>
              <a:rPr lang="en-US" b="1" dirty="0"/>
              <a:t>toppings</a:t>
            </a:r>
            <a:r>
              <a:rPr lang="en-US" dirty="0"/>
              <a:t>, and </a:t>
            </a:r>
            <a:r>
              <a:rPr lang="en-US" b="1" dirty="0"/>
              <a:t>extras</a:t>
            </a:r>
            <a:r>
              <a:rPr lang="en-US" dirty="0"/>
              <a:t>. </a:t>
            </a:r>
          </a:p>
          <a:p>
            <a:pPr algn="l"/>
            <a:r>
              <a:rPr lang="en-US" dirty="0"/>
              <a:t>	+ Place </a:t>
            </a:r>
            <a:r>
              <a:rPr lang="en-US" b="1" dirty="0"/>
              <a:t>banners</a:t>
            </a:r>
            <a:r>
              <a:rPr lang="en-US" dirty="0"/>
              <a:t> or </a:t>
            </a:r>
            <a:r>
              <a:rPr lang="en-US" b="1" dirty="0"/>
              <a:t>table</a:t>
            </a:r>
            <a:r>
              <a:rPr lang="en-US" dirty="0"/>
              <a:t> tents to </a:t>
            </a:r>
            <a:r>
              <a:rPr lang="en-US" b="1" dirty="0"/>
              <a:t>promote</a:t>
            </a:r>
            <a:r>
              <a:rPr lang="en-US" dirty="0"/>
              <a:t> group-focused offers.</a:t>
            </a:r>
          </a:p>
          <a:p>
            <a:pPr algn="l"/>
            <a:endParaRPr lang="en-US" dirty="0"/>
          </a:p>
        </p:txBody>
      </p:sp>
    </p:spTree>
    <p:extLst>
      <p:ext uri="{BB962C8B-B14F-4D97-AF65-F5344CB8AC3E}">
        <p14:creationId xmlns:p14="http://schemas.microsoft.com/office/powerpoint/2010/main" val="4183924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D189-CACB-433B-6670-9490B83CB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59D85-B153-8AAF-CDF2-E784FCE98C6E}"/>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7AEDF4AB-0FB0-77DB-F2D0-976C416E0480}"/>
              </a:ext>
            </a:extLst>
          </p:cNvPr>
          <p:cNvSpPr>
            <a:spLocks noGrp="1"/>
          </p:cNvSpPr>
          <p:nvPr>
            <p:ph type="subTitle" idx="1"/>
          </p:nvPr>
        </p:nvSpPr>
        <p:spPr>
          <a:xfrm>
            <a:off x="0" y="837065"/>
            <a:ext cx="12192000" cy="6020935"/>
          </a:xfrm>
        </p:spPr>
        <p:txBody>
          <a:bodyPr>
            <a:normAutofit/>
          </a:bodyPr>
          <a:lstStyle/>
          <a:p>
            <a:pPr algn="l"/>
            <a:r>
              <a:rPr lang="en-US" b="1" dirty="0"/>
              <a:t>6. Act</a:t>
            </a:r>
          </a:p>
          <a:p>
            <a:pPr algn="l"/>
            <a:endParaRPr lang="en-US" dirty="0"/>
          </a:p>
          <a:p>
            <a:pPr algn="l"/>
            <a:r>
              <a:rPr lang="en-US" dirty="0"/>
              <a:t>- </a:t>
            </a:r>
            <a:r>
              <a:rPr lang="en-US" b="1" dirty="0"/>
              <a:t>Promotion Strategy</a:t>
            </a:r>
            <a:r>
              <a:rPr lang="en-US" dirty="0"/>
              <a:t>: Increase the </a:t>
            </a:r>
            <a:r>
              <a:rPr lang="en-US" b="1" dirty="0"/>
              <a:t>frequency</a:t>
            </a:r>
            <a:r>
              <a:rPr lang="en-US" dirty="0"/>
              <a:t> and </a:t>
            </a:r>
            <a:r>
              <a:rPr lang="en-US" b="1" dirty="0"/>
              <a:t>duration</a:t>
            </a:r>
            <a:r>
              <a:rPr lang="en-US" dirty="0"/>
              <a:t> of promotional experiments. Implement 3 types of </a:t>
            </a:r>
            <a:r>
              <a:rPr lang="en-US" b="1" dirty="0"/>
              <a:t>test promotions</a:t>
            </a:r>
            <a:r>
              <a:rPr lang="en-US" dirty="0"/>
              <a:t>:</a:t>
            </a:r>
          </a:p>
          <a:p>
            <a:pPr algn="l"/>
            <a:r>
              <a:rPr lang="en-US" dirty="0"/>
              <a:t>	+ </a:t>
            </a:r>
            <a:r>
              <a:rPr lang="en-US" b="1" dirty="0"/>
              <a:t>Time-based deals:</a:t>
            </a:r>
            <a:r>
              <a:rPr lang="en-US" dirty="0"/>
              <a:t> Lunch Deal (11:00–13:00), Dinner Booster (17:00–20:00).</a:t>
            </a:r>
          </a:p>
          <a:p>
            <a:pPr algn="l"/>
            <a:r>
              <a:rPr lang="en-US" dirty="0"/>
              <a:t>	+ </a:t>
            </a:r>
            <a:r>
              <a:rPr lang="en-US" b="1" dirty="0"/>
              <a:t>Category-based promo:</a:t>
            </a:r>
            <a:r>
              <a:rPr lang="en-US" dirty="0"/>
              <a:t> Discount on snacks/appetizers  &amp; drink to drive traffic.</a:t>
            </a:r>
          </a:p>
          <a:p>
            <a:pPr algn="l"/>
            <a:r>
              <a:rPr lang="en-US" dirty="0"/>
              <a:t>	+ </a:t>
            </a:r>
            <a:r>
              <a:rPr lang="en-US" b="1" dirty="0"/>
              <a:t>Payment-based promo:</a:t>
            </a:r>
            <a:r>
              <a:rPr lang="en-US" dirty="0"/>
              <a:t> 5–10% discount for international cards or bank transfer.</a:t>
            </a:r>
          </a:p>
          <a:p>
            <a:pPr algn="l"/>
            <a:r>
              <a:rPr lang="en-US" dirty="0"/>
              <a:t>- </a:t>
            </a:r>
            <a:r>
              <a:rPr lang="en-US" b="1" dirty="0"/>
              <a:t>Increase Takeaway Revenue</a:t>
            </a:r>
            <a:r>
              <a:rPr lang="en-US" dirty="0"/>
              <a:t>: Takeaway performance is currently </a:t>
            </a:r>
            <a:r>
              <a:rPr lang="en-US" b="1" dirty="0"/>
              <a:t>weak</a:t>
            </a:r>
            <a:r>
              <a:rPr lang="en-US" dirty="0"/>
              <a:t> — improve it by:</a:t>
            </a:r>
          </a:p>
          <a:p>
            <a:pPr algn="l"/>
            <a:r>
              <a:rPr lang="en-US" dirty="0"/>
              <a:t>	+ Offering takeaway combos at </a:t>
            </a:r>
            <a:r>
              <a:rPr lang="en-US" b="1" dirty="0"/>
              <a:t>10%</a:t>
            </a:r>
            <a:r>
              <a:rPr lang="en-US" dirty="0"/>
              <a:t> lower pricing.</a:t>
            </a:r>
          </a:p>
          <a:p>
            <a:pPr algn="l"/>
            <a:r>
              <a:rPr lang="en-US" dirty="0"/>
              <a:t>	+ Improving </a:t>
            </a:r>
            <a:r>
              <a:rPr lang="en-US" b="1" dirty="0"/>
              <a:t>packaging</a:t>
            </a:r>
            <a:r>
              <a:rPr lang="en-US" dirty="0"/>
              <a:t> consistency and presentation.</a:t>
            </a:r>
          </a:p>
          <a:p>
            <a:pPr algn="l"/>
            <a:r>
              <a:rPr lang="en-US" dirty="0"/>
              <a:t>	+ Creating a </a:t>
            </a:r>
            <a:r>
              <a:rPr lang="en-US" b="1" dirty="0"/>
              <a:t>“Happy Tuesday”</a:t>
            </a:r>
            <a:r>
              <a:rPr lang="en-US" dirty="0"/>
              <a:t> takeaway promotion.</a:t>
            </a:r>
          </a:p>
          <a:p>
            <a:pPr algn="l"/>
            <a:endParaRPr lang="en-US" dirty="0"/>
          </a:p>
          <a:p>
            <a:pPr algn="l"/>
            <a:endParaRPr lang="en-US" dirty="0"/>
          </a:p>
        </p:txBody>
      </p:sp>
    </p:spTree>
    <p:extLst>
      <p:ext uri="{BB962C8B-B14F-4D97-AF65-F5344CB8AC3E}">
        <p14:creationId xmlns:p14="http://schemas.microsoft.com/office/powerpoint/2010/main" val="2290674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210F2-C6C5-AAD2-6A6B-505B13324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56044-6126-6914-9212-011A8C250CDD}"/>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9E9C6400-9CE3-A710-1498-79747DCB5CB7}"/>
              </a:ext>
            </a:extLst>
          </p:cNvPr>
          <p:cNvSpPr>
            <a:spLocks noGrp="1"/>
          </p:cNvSpPr>
          <p:nvPr>
            <p:ph type="subTitle" idx="1"/>
          </p:nvPr>
        </p:nvSpPr>
        <p:spPr>
          <a:xfrm>
            <a:off x="0" y="837065"/>
            <a:ext cx="12192000" cy="6020935"/>
          </a:xfrm>
        </p:spPr>
        <p:txBody>
          <a:bodyPr>
            <a:normAutofit/>
          </a:bodyPr>
          <a:lstStyle/>
          <a:p>
            <a:pPr algn="l"/>
            <a:r>
              <a:rPr lang="en-US" b="1" dirty="0"/>
              <a:t>6. Act</a:t>
            </a:r>
          </a:p>
          <a:p>
            <a:pPr algn="l"/>
            <a:endParaRPr lang="en-US" dirty="0"/>
          </a:p>
          <a:p>
            <a:pPr algn="l"/>
            <a:r>
              <a:rPr lang="en-US" dirty="0"/>
              <a:t>- </a:t>
            </a:r>
            <a:r>
              <a:rPr lang="en-US" b="1" dirty="0"/>
              <a:t>Focus on International Card Users</a:t>
            </a:r>
            <a:r>
              <a:rPr lang="en-US" dirty="0"/>
              <a:t>: This segment shows </a:t>
            </a:r>
            <a:r>
              <a:rPr lang="en-US" b="1" dirty="0"/>
              <a:t>very high AOV</a:t>
            </a:r>
            <a:r>
              <a:rPr lang="en-US" dirty="0"/>
              <a:t>, Strategies:</a:t>
            </a:r>
          </a:p>
          <a:p>
            <a:pPr algn="l"/>
            <a:r>
              <a:rPr lang="en-US" dirty="0"/>
              <a:t>	+ Provide exclusive </a:t>
            </a:r>
            <a:r>
              <a:rPr lang="en-US" b="1" dirty="0"/>
              <a:t>discounts </a:t>
            </a:r>
            <a:r>
              <a:rPr lang="en-US" dirty="0"/>
              <a:t>for Visa/Mastercard users.</a:t>
            </a:r>
          </a:p>
          <a:p>
            <a:pPr algn="l"/>
            <a:r>
              <a:rPr lang="en-US" dirty="0"/>
              <a:t>	+ Collaborate with </a:t>
            </a:r>
            <a:r>
              <a:rPr lang="en-US" b="1" dirty="0"/>
              <a:t>banks</a:t>
            </a:r>
            <a:r>
              <a:rPr lang="en-US" dirty="0"/>
              <a:t> for co-branded promotions.</a:t>
            </a:r>
          </a:p>
          <a:p>
            <a:pPr algn="l"/>
            <a:r>
              <a:rPr lang="en-US" dirty="0"/>
              <a:t>- </a:t>
            </a:r>
            <a:r>
              <a:rPr lang="en-US" b="1" dirty="0"/>
              <a:t>Menu Strategy</a:t>
            </a:r>
            <a:r>
              <a:rPr lang="en-US" dirty="0"/>
              <a:t>: </a:t>
            </a:r>
          </a:p>
          <a:p>
            <a:pPr algn="l"/>
            <a:r>
              <a:rPr lang="en-US" dirty="0"/>
              <a:t>	+ Maintain top-performing </a:t>
            </a:r>
            <a:r>
              <a:rPr lang="en-US" b="1" dirty="0"/>
              <a:t>menu</a:t>
            </a:r>
            <a:r>
              <a:rPr lang="en-US" dirty="0"/>
              <a:t> items</a:t>
            </a:r>
          </a:p>
          <a:p>
            <a:pPr algn="l"/>
            <a:r>
              <a:rPr lang="en-US" dirty="0"/>
              <a:t>	+ Develop more </a:t>
            </a:r>
            <a:r>
              <a:rPr lang="en-US" b="1" dirty="0"/>
              <a:t>shareable dishes </a:t>
            </a:r>
            <a:r>
              <a:rPr lang="en-US" dirty="0"/>
              <a:t>for larger groups.</a:t>
            </a:r>
          </a:p>
          <a:p>
            <a:pPr algn="l"/>
            <a:r>
              <a:rPr lang="en-US" dirty="0"/>
              <a:t>	+ Strengthen marketing for the </a:t>
            </a:r>
            <a:r>
              <a:rPr lang="en-US" b="1" dirty="0"/>
              <a:t>Snack/Appetizer </a:t>
            </a:r>
            <a:r>
              <a:rPr lang="en-US" dirty="0"/>
              <a:t>&amp; </a:t>
            </a:r>
            <a:r>
              <a:rPr lang="en-US" b="1" dirty="0"/>
              <a:t>drink</a:t>
            </a:r>
            <a:r>
              <a:rPr lang="en-US" dirty="0"/>
              <a:t> category.</a:t>
            </a:r>
          </a:p>
          <a:p>
            <a:pPr algn="l"/>
            <a:endParaRPr lang="en-US" dirty="0"/>
          </a:p>
        </p:txBody>
      </p:sp>
    </p:spTree>
    <p:extLst>
      <p:ext uri="{BB962C8B-B14F-4D97-AF65-F5344CB8AC3E}">
        <p14:creationId xmlns:p14="http://schemas.microsoft.com/office/powerpoint/2010/main" val="2539416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C98DC-1401-C0C2-AA63-F6C9103681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D4436-734E-27B3-2096-4F89FE93A397}"/>
              </a:ext>
            </a:extLst>
          </p:cNvPr>
          <p:cNvSpPr>
            <a:spLocks noGrp="1"/>
          </p:cNvSpPr>
          <p:nvPr>
            <p:ph type="ctrTitle"/>
          </p:nvPr>
        </p:nvSpPr>
        <p:spPr>
          <a:xfrm>
            <a:off x="1524000" y="0"/>
            <a:ext cx="9144000" cy="921041"/>
          </a:xfrm>
        </p:spPr>
        <p:txBody>
          <a:bodyPr/>
          <a:lstStyle/>
          <a:p>
            <a:r>
              <a:rPr lang="en-US" b="1" dirty="0">
                <a:solidFill>
                  <a:schemeClr val="accent5">
                    <a:lumMod val="75000"/>
                  </a:schemeClr>
                </a:solidFill>
              </a:rPr>
              <a:t>Japan Restaurant</a:t>
            </a:r>
          </a:p>
        </p:txBody>
      </p:sp>
      <p:sp>
        <p:nvSpPr>
          <p:cNvPr id="3" name="Subtitle 2">
            <a:extLst>
              <a:ext uri="{FF2B5EF4-FFF2-40B4-BE49-F238E27FC236}">
                <a16:creationId xmlns:a16="http://schemas.microsoft.com/office/drawing/2014/main" id="{C24F3899-A351-9B11-A591-3C8E8D46CB14}"/>
              </a:ext>
            </a:extLst>
          </p:cNvPr>
          <p:cNvSpPr>
            <a:spLocks noGrp="1"/>
          </p:cNvSpPr>
          <p:nvPr>
            <p:ph type="subTitle" idx="1"/>
          </p:nvPr>
        </p:nvSpPr>
        <p:spPr>
          <a:xfrm>
            <a:off x="0" y="837065"/>
            <a:ext cx="12192000" cy="6020935"/>
          </a:xfrm>
        </p:spPr>
        <p:txBody>
          <a:bodyPr>
            <a:normAutofit lnSpcReduction="10000"/>
          </a:bodyPr>
          <a:lstStyle/>
          <a:p>
            <a:pPr algn="l"/>
            <a:r>
              <a:rPr lang="en-US" b="1" dirty="0"/>
              <a:t>6. Act</a:t>
            </a:r>
          </a:p>
          <a:p>
            <a:pPr algn="l"/>
            <a:r>
              <a:rPr lang="en-US" b="1" dirty="0"/>
              <a:t>- Overall</a:t>
            </a:r>
            <a:r>
              <a:rPr lang="en-US" dirty="0"/>
              <a:t> </a:t>
            </a:r>
            <a:r>
              <a:rPr lang="en-US" b="1" dirty="0"/>
              <a:t>Strategic Recommendations</a:t>
            </a:r>
            <a:r>
              <a:rPr lang="en-US" dirty="0"/>
              <a:t>:</a:t>
            </a:r>
          </a:p>
          <a:p>
            <a:pPr algn="l"/>
            <a:r>
              <a:rPr lang="en-US" dirty="0"/>
              <a:t>+ Identify </a:t>
            </a:r>
            <a:r>
              <a:rPr lang="en-US" b="1" dirty="0"/>
              <a:t>potential</a:t>
            </a:r>
            <a:r>
              <a:rPr lang="en-US" dirty="0"/>
              <a:t> customer segments &amp; nearby </a:t>
            </a:r>
            <a:r>
              <a:rPr lang="en-US" b="1" dirty="0"/>
              <a:t>communities</a:t>
            </a:r>
            <a:r>
              <a:rPr lang="en-US" dirty="0"/>
              <a:t> around the store. </a:t>
            </a:r>
          </a:p>
          <a:p>
            <a:pPr algn="l"/>
            <a:r>
              <a:rPr lang="en-US" dirty="0"/>
              <a:t>+ Develop </a:t>
            </a:r>
            <a:r>
              <a:rPr lang="en-US" b="1" dirty="0"/>
              <a:t>menu</a:t>
            </a:r>
            <a:r>
              <a:rPr lang="en-US" dirty="0"/>
              <a:t> offerings &amp; </a:t>
            </a:r>
            <a:r>
              <a:rPr lang="en-US" b="1" dirty="0"/>
              <a:t>service</a:t>
            </a:r>
            <a:r>
              <a:rPr lang="en-US" dirty="0"/>
              <a:t> experiences that align with </a:t>
            </a:r>
            <a:r>
              <a:rPr lang="en-US" b="1" dirty="0"/>
              <a:t>seasonal weather conditions</a:t>
            </a:r>
            <a:r>
              <a:rPr lang="en-US" dirty="0"/>
              <a:t>. </a:t>
            </a:r>
          </a:p>
          <a:p>
            <a:pPr algn="l"/>
            <a:r>
              <a:rPr lang="en-US" dirty="0"/>
              <a:t>+ Strengthen </a:t>
            </a:r>
            <a:r>
              <a:rPr lang="en-US" b="1" dirty="0"/>
              <a:t>targeted</a:t>
            </a:r>
            <a:r>
              <a:rPr lang="en-US" dirty="0"/>
              <a:t> marketing campaigns for each </a:t>
            </a:r>
            <a:r>
              <a:rPr lang="en-US" b="1" dirty="0"/>
              <a:t>audience</a:t>
            </a:r>
            <a:r>
              <a:rPr lang="en-US" dirty="0"/>
              <a:t> group. </a:t>
            </a:r>
          </a:p>
          <a:p>
            <a:pPr algn="l"/>
            <a:r>
              <a:rPr lang="en-US" dirty="0"/>
              <a:t>+ Launch </a:t>
            </a:r>
            <a:r>
              <a:rPr lang="en-US" b="1" dirty="0"/>
              <a:t>promotions</a:t>
            </a:r>
            <a:r>
              <a:rPr lang="en-US" dirty="0"/>
              <a:t> &amp; </a:t>
            </a:r>
            <a:r>
              <a:rPr lang="en-US" b="1" dirty="0"/>
              <a:t>discounts</a:t>
            </a:r>
            <a:r>
              <a:rPr lang="en-US" dirty="0"/>
              <a:t> aligned with annual </a:t>
            </a:r>
            <a:r>
              <a:rPr lang="en-US" b="1" dirty="0"/>
              <a:t>events</a:t>
            </a:r>
            <a:r>
              <a:rPr lang="en-US" dirty="0"/>
              <a:t> &amp; emerging </a:t>
            </a:r>
            <a:r>
              <a:rPr lang="en-US" b="1" dirty="0"/>
              <a:t>social media trends </a:t>
            </a:r>
            <a:r>
              <a:rPr lang="en-US" dirty="0"/>
              <a:t>among younger customers.</a:t>
            </a:r>
          </a:p>
          <a:p>
            <a:pPr algn="l"/>
            <a:r>
              <a:rPr lang="en-US" dirty="0"/>
              <a:t>+ Establish a </a:t>
            </a:r>
            <a:r>
              <a:rPr lang="en-US" b="1" dirty="0"/>
              <a:t>quality-control</a:t>
            </a:r>
            <a:r>
              <a:rPr lang="en-US" dirty="0"/>
              <a:t> process to evaluate the </a:t>
            </a:r>
            <a:r>
              <a:rPr lang="en-US" b="1" dirty="0"/>
              <a:t>value</a:t>
            </a:r>
            <a:r>
              <a:rPr lang="en-US" dirty="0"/>
              <a:t> &amp; </a:t>
            </a:r>
            <a:r>
              <a:rPr lang="en-US" b="1" dirty="0"/>
              <a:t>usability</a:t>
            </a:r>
            <a:r>
              <a:rPr lang="en-US" dirty="0"/>
              <a:t> of ingredients. </a:t>
            </a:r>
          </a:p>
          <a:p>
            <a:pPr algn="l"/>
            <a:r>
              <a:rPr lang="en-US" dirty="0"/>
              <a:t>+ Develop a </a:t>
            </a:r>
            <a:r>
              <a:rPr lang="en-US" b="1" dirty="0"/>
              <a:t>recycling</a:t>
            </a:r>
            <a:r>
              <a:rPr lang="en-US" dirty="0"/>
              <a:t> &amp; </a:t>
            </a:r>
            <a:r>
              <a:rPr lang="en-US" b="1" dirty="0"/>
              <a:t>sustainability</a:t>
            </a:r>
            <a:r>
              <a:rPr lang="en-US" dirty="0"/>
              <a:t> model. </a:t>
            </a:r>
          </a:p>
          <a:p>
            <a:pPr algn="l"/>
            <a:r>
              <a:rPr lang="en-US" dirty="0"/>
              <a:t>+ Create </a:t>
            </a:r>
            <a:r>
              <a:rPr lang="en-US" b="1" dirty="0"/>
              <a:t>food</a:t>
            </a:r>
            <a:r>
              <a:rPr lang="en-US" dirty="0"/>
              <a:t> &amp; </a:t>
            </a:r>
            <a:r>
              <a:rPr lang="en-US" b="1" dirty="0"/>
              <a:t>beverage</a:t>
            </a:r>
            <a:r>
              <a:rPr lang="en-US" dirty="0"/>
              <a:t> items that are </a:t>
            </a:r>
            <a:r>
              <a:rPr lang="en-US" b="1" dirty="0"/>
              <a:t>entertaining</a:t>
            </a:r>
            <a:r>
              <a:rPr lang="en-US" dirty="0"/>
              <a:t>, visually </a:t>
            </a:r>
            <a:r>
              <a:rPr lang="en-US" b="1" dirty="0"/>
              <a:t>appealing</a:t>
            </a:r>
            <a:r>
              <a:rPr lang="en-US" dirty="0"/>
              <a:t>, and shareable to enhance </a:t>
            </a:r>
            <a:r>
              <a:rPr lang="en-US" b="1" dirty="0"/>
              <a:t>word-of-mouth</a:t>
            </a:r>
            <a:r>
              <a:rPr lang="en-US" dirty="0"/>
              <a:t> impact.</a:t>
            </a:r>
          </a:p>
          <a:p>
            <a:pPr algn="l"/>
            <a:r>
              <a:rPr lang="en-US" dirty="0"/>
              <a:t>+ Conduct </a:t>
            </a:r>
            <a:r>
              <a:rPr lang="en-US" b="1" dirty="0"/>
              <a:t>margin</a:t>
            </a:r>
            <a:r>
              <a:rPr lang="en-US" dirty="0"/>
              <a:t> analysis for each product to gain accurate insights into </a:t>
            </a:r>
            <a:r>
              <a:rPr lang="en-US" b="1" dirty="0"/>
              <a:t>profitability</a:t>
            </a:r>
            <a:r>
              <a:rPr lang="en-US" dirty="0"/>
              <a:t>. </a:t>
            </a:r>
          </a:p>
          <a:p>
            <a:pPr algn="l"/>
            <a:r>
              <a:rPr lang="en-US" dirty="0"/>
              <a:t>+ </a:t>
            </a:r>
            <a:r>
              <a:rPr lang="en-US" b="1" dirty="0"/>
              <a:t>Remove</a:t>
            </a:r>
            <a:r>
              <a:rPr lang="en-US" dirty="0"/>
              <a:t> items with </a:t>
            </a:r>
            <a:r>
              <a:rPr lang="en-US" b="1" dirty="0"/>
              <a:t>low</a:t>
            </a:r>
            <a:r>
              <a:rPr lang="en-US" dirty="0"/>
              <a:t> sales volume &amp; </a:t>
            </a:r>
            <a:r>
              <a:rPr lang="en-US" b="1" dirty="0"/>
              <a:t>low</a:t>
            </a:r>
            <a:r>
              <a:rPr lang="en-US" dirty="0"/>
              <a:t> usage frequency. </a:t>
            </a:r>
          </a:p>
          <a:p>
            <a:pPr algn="l"/>
            <a:r>
              <a:rPr lang="en-US" dirty="0"/>
              <a:t>+ </a:t>
            </a:r>
            <a:r>
              <a:rPr lang="en-US" b="1" dirty="0"/>
              <a:t>Flexibly</a:t>
            </a:r>
            <a:r>
              <a:rPr lang="en-US" dirty="0"/>
              <a:t> apply these </a:t>
            </a:r>
            <a:r>
              <a:rPr lang="en-US" b="1" dirty="0"/>
              <a:t>strategies</a:t>
            </a:r>
            <a:r>
              <a:rPr lang="en-US" dirty="0"/>
              <a:t> to optimize </a:t>
            </a:r>
            <a:r>
              <a:rPr lang="en-US" b="1" dirty="0"/>
              <a:t>inventory</a:t>
            </a:r>
            <a:r>
              <a:rPr lang="en-US" dirty="0"/>
              <a:t> management and minimize </a:t>
            </a:r>
            <a:r>
              <a:rPr lang="en-US" b="1" dirty="0"/>
              <a:t>waste</a:t>
            </a:r>
            <a:r>
              <a:rPr lang="en-US" dirty="0"/>
              <a:t>.</a:t>
            </a:r>
          </a:p>
        </p:txBody>
      </p:sp>
    </p:spTree>
    <p:extLst>
      <p:ext uri="{BB962C8B-B14F-4D97-AF65-F5344CB8AC3E}">
        <p14:creationId xmlns:p14="http://schemas.microsoft.com/office/powerpoint/2010/main" val="1799425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1802</Words>
  <Application>Microsoft Office PowerPoint</Application>
  <PresentationFormat>Widescreen</PresentationFormat>
  <Paragraphs>238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Wingdings</vt:lpstr>
      <vt:lpstr>Office Theme</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lpstr>Japan Restaurant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Thiện Nguyễn Hoàng</dc:creator>
  <cp:lastModifiedBy>Thiện Nguyễn Hoàng</cp:lastModifiedBy>
  <cp:revision>22</cp:revision>
  <dcterms:created xsi:type="dcterms:W3CDTF">2025-12-08T13:33:24Z</dcterms:created>
  <dcterms:modified xsi:type="dcterms:W3CDTF">2025-12-10T09:05:23Z</dcterms:modified>
</cp:coreProperties>
</file>